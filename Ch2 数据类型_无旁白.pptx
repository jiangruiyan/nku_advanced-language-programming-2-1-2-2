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"/>
  </p:notesMasterIdLst>
  <p:handoutMasterIdLst>
    <p:handoutMasterId r:id="rId60"/>
  </p:handoutMasterIdLst>
  <p:sldIdLst>
    <p:sldId id="864" r:id="rId3"/>
    <p:sldId id="256" r:id="rId4"/>
    <p:sldId id="747" r:id="rId6"/>
    <p:sldId id="860" r:id="rId7"/>
    <p:sldId id="799" r:id="rId8"/>
    <p:sldId id="800" r:id="rId9"/>
    <p:sldId id="801" r:id="rId10"/>
    <p:sldId id="847" r:id="rId11"/>
    <p:sldId id="848" r:id="rId12"/>
    <p:sldId id="805" r:id="rId13"/>
    <p:sldId id="849" r:id="rId14"/>
    <p:sldId id="851" r:id="rId15"/>
    <p:sldId id="850" r:id="rId16"/>
    <p:sldId id="808" r:id="rId17"/>
    <p:sldId id="809" r:id="rId18"/>
    <p:sldId id="810" r:id="rId19"/>
    <p:sldId id="811" r:id="rId20"/>
    <p:sldId id="812" r:id="rId21"/>
    <p:sldId id="855" r:id="rId22"/>
    <p:sldId id="814" r:id="rId23"/>
    <p:sldId id="815" r:id="rId24"/>
    <p:sldId id="816" r:id="rId25"/>
    <p:sldId id="817" r:id="rId26"/>
    <p:sldId id="818" r:id="rId27"/>
    <p:sldId id="852" r:id="rId28"/>
    <p:sldId id="858" r:id="rId29"/>
    <p:sldId id="820" r:id="rId30"/>
    <p:sldId id="821" r:id="rId31"/>
    <p:sldId id="822" r:id="rId32"/>
    <p:sldId id="823" r:id="rId33"/>
    <p:sldId id="824" r:id="rId34"/>
    <p:sldId id="825" r:id="rId35"/>
    <p:sldId id="826" r:id="rId36"/>
    <p:sldId id="827" r:id="rId37"/>
    <p:sldId id="828" r:id="rId38"/>
    <p:sldId id="829" r:id="rId39"/>
    <p:sldId id="830" r:id="rId40"/>
    <p:sldId id="831" r:id="rId41"/>
    <p:sldId id="832" r:id="rId42"/>
    <p:sldId id="833" r:id="rId43"/>
    <p:sldId id="862" r:id="rId44"/>
    <p:sldId id="863" r:id="rId45"/>
    <p:sldId id="856" r:id="rId46"/>
    <p:sldId id="834" r:id="rId47"/>
    <p:sldId id="857" r:id="rId48"/>
    <p:sldId id="836" r:id="rId49"/>
    <p:sldId id="837" r:id="rId50"/>
    <p:sldId id="838" r:id="rId51"/>
    <p:sldId id="840" r:id="rId52"/>
    <p:sldId id="841" r:id="rId53"/>
    <p:sldId id="842" r:id="rId54"/>
    <p:sldId id="861" r:id="rId55"/>
    <p:sldId id="843" r:id="rId56"/>
    <p:sldId id="844" r:id="rId57"/>
    <p:sldId id="845" r:id="rId58"/>
    <p:sldId id="746" r:id="rId59"/>
  </p:sldIdLst>
  <p:sldSz cx="9144000" cy="6858000" type="screen4x3"/>
  <p:notesSz cx="10234295" cy="7099300"/>
  <p:custDataLst>
    <p:tags r:id="rId6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820064"/>
    <a:srgbClr val="86006A"/>
    <a:srgbClr val="FFE9FB"/>
    <a:srgbClr val="FFF1FC"/>
    <a:srgbClr val="173660"/>
    <a:srgbClr val="00FF00"/>
    <a:srgbClr val="3399FF"/>
    <a:srgbClr val="640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13" autoAdjust="0"/>
    <p:restoredTop sz="88245" autoAdjust="0"/>
  </p:normalViewPr>
  <p:slideViewPr>
    <p:cSldViewPr showGuides="1">
      <p:cViewPr varScale="1">
        <p:scale>
          <a:sx n="73" d="100"/>
          <a:sy n="73" d="100"/>
        </p:scale>
        <p:origin x="160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1704" y="27"/>
      </p:cViewPr>
      <p:guideLst>
        <p:guide orient="horz" pos="2237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gs" Target="tags/tag2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8088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8501B2C-9B6C-4A37-8148-72CA3CE66ED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8088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FC47D02-C625-45A8-82E7-905A8D2AAA1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8088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C9222EA9-D2ED-491C-960B-2AC3CE6D8FB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343275" y="531813"/>
            <a:ext cx="3548063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4444" y="3371365"/>
            <a:ext cx="8185727" cy="3195614"/>
          </a:xfrm>
          <a:prstGeom prst="rect">
            <a:avLst/>
          </a:prstGeom>
        </p:spPr>
        <p:txBody>
          <a:bodyPr vert="horz" lIns="99039" tIns="49520" rIns="99039" bIns="495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8088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F1FEECBA-06CB-4ED2-B9B8-A5DB6840A68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84AF5-2530-48EF-A17D-F4F580DE30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521075" y="887413"/>
            <a:ext cx="31924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0E86E-7207-4357-BB7D-B84DAC83B4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521075" y="887413"/>
            <a:ext cx="31924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数据类型没有二义性时，修饰符可以省略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521075" y="887413"/>
            <a:ext cx="31924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单精度</a:t>
            </a:r>
            <a:r>
              <a:rPr lang="en-US" altLang="zh-CN" dirty="0"/>
              <a:t>32bit</a:t>
            </a:r>
            <a:r>
              <a:rPr lang="zh-CN" altLang="en-US" dirty="0"/>
              <a:t>，其中</a:t>
            </a:r>
            <a:r>
              <a:rPr lang="en-US" altLang="zh-CN" dirty="0"/>
              <a:t>1</a:t>
            </a:r>
            <a:r>
              <a:rPr lang="zh-CN" altLang="en-US" dirty="0"/>
              <a:t>位为符号位，</a:t>
            </a:r>
            <a:r>
              <a:rPr lang="en-US" altLang="zh-CN" dirty="0"/>
              <a:t>8bit</a:t>
            </a:r>
            <a:r>
              <a:rPr lang="zh-CN" altLang="en-US" dirty="0"/>
              <a:t>为指数位，</a:t>
            </a:r>
            <a:r>
              <a:rPr lang="en-US" altLang="zh-CN" dirty="0"/>
              <a:t>23</a:t>
            </a:r>
            <a:r>
              <a:rPr lang="zh-CN" altLang="en-US" dirty="0"/>
              <a:t>位为尾数位，因此，指数的表示范围为</a:t>
            </a:r>
            <a:r>
              <a:rPr lang="en-US" altLang="zh-CN" dirty="0"/>
              <a:t>-128</a:t>
            </a:r>
            <a:r>
              <a:rPr lang="zh-CN" altLang="en-US" dirty="0"/>
              <a:t>至</a:t>
            </a:r>
            <a:r>
              <a:rPr lang="en-US" altLang="zh-CN"/>
              <a:t>127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如果是</a:t>
            </a:r>
            <a:r>
              <a:rPr lang="en-US" altLang="zh-CN" dirty="0"/>
              <a:t>char*</a:t>
            </a:r>
            <a:r>
              <a:rPr lang="zh-CN" altLang="en-US" dirty="0"/>
              <a:t>，是不是就不对了？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343275" y="531813"/>
            <a:ext cx="3548063" cy="26622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84AF5-2530-48EF-A17D-F4F580DE30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50" y="179388"/>
            <a:ext cx="1447800" cy="646112"/>
          </a:xfrm>
          <a:prstGeom prst="rect">
            <a:avLst/>
          </a:prstGeom>
          <a:effectLst>
            <a:outerShdw blurRad="25400" dist="12700" dir="2700000" algn="tl" rotWithShape="0">
              <a:schemeClr val="bg1">
                <a:alpha val="60000"/>
              </a:scheme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2000240"/>
            <a:ext cx="7715304" cy="192882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4348" y="4000504"/>
            <a:ext cx="7715304" cy="1928826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1000125"/>
            <a:ext cx="8229600" cy="85725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21026" y="6551613"/>
            <a:ext cx="1715070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457200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</p:nvPr>
        </p:nvSpPr>
        <p:spPr>
          <a:xfrm>
            <a:off x="457200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4" name="文本占位符 2"/>
          <p:cNvSpPr>
            <a:spLocks noGrp="1"/>
          </p:cNvSpPr>
          <p:nvPr>
            <p:ph type="body" idx="13"/>
          </p:nvPr>
        </p:nvSpPr>
        <p:spPr>
          <a:xfrm>
            <a:off x="3243282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5" name="内容占位符 3"/>
          <p:cNvSpPr>
            <a:spLocks noGrp="1"/>
          </p:cNvSpPr>
          <p:nvPr>
            <p:ph sz="half" idx="14"/>
          </p:nvPr>
        </p:nvSpPr>
        <p:spPr>
          <a:xfrm>
            <a:off x="3243282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" name="文本占位符 2"/>
          <p:cNvSpPr>
            <a:spLocks noGrp="1"/>
          </p:cNvSpPr>
          <p:nvPr>
            <p:ph type="body" idx="15"/>
          </p:nvPr>
        </p:nvSpPr>
        <p:spPr>
          <a:xfrm>
            <a:off x="6072198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7" name="内容占位符 3"/>
          <p:cNvSpPr>
            <a:spLocks noGrp="1"/>
          </p:cNvSpPr>
          <p:nvPr>
            <p:ph sz="half" idx="16"/>
          </p:nvPr>
        </p:nvSpPr>
        <p:spPr>
          <a:xfrm>
            <a:off x="6072198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8"/>
          </p:nvPr>
        </p:nvSpPr>
        <p:spPr>
          <a:xfrm>
            <a:off x="3721026" y="6551613"/>
            <a:ext cx="1715070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3.emf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6572250"/>
            <a:ext cx="9144000" cy="28575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2786063" cy="85725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86063" y="0"/>
            <a:ext cx="6357937" cy="857250"/>
          </a:xfrm>
          <a:prstGeom prst="rect">
            <a:avLst/>
          </a:prstGeom>
          <a:gradFill flip="none" rotWithShape="1">
            <a:gsLst>
              <a:gs pos="30000">
                <a:schemeClr val="tx2"/>
              </a:gs>
              <a:gs pos="60000">
                <a:schemeClr val="tx2">
                  <a:lumMod val="40000"/>
                  <a:lumOff val="60000"/>
                </a:schemeClr>
              </a:gs>
              <a:gs pos="90000">
                <a:schemeClr val="bg1"/>
              </a:gs>
            </a:gsLst>
            <a:lin ang="10800000" scaled="1"/>
            <a:tileRect/>
          </a:gra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000125"/>
            <a:ext cx="8229600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928813"/>
            <a:ext cx="8229600" cy="450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4" name="图片 12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4313" y="6594475"/>
            <a:ext cx="19510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2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29613" y="50800"/>
            <a:ext cx="781050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"/>
          <p:cNvSpPr txBox="1"/>
          <p:nvPr userDrawn="1"/>
        </p:nvSpPr>
        <p:spPr>
          <a:xfrm>
            <a:off x="5868144" y="6572250"/>
            <a:ext cx="3242519" cy="29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200" kern="1200" dirty="0">
                <a:solidFill>
                  <a:schemeClr val="bg1"/>
                </a:solidFill>
                <a:latin typeface="Arial" panose="020B0604020202020204" pitchFamily="34" charset="0"/>
                <a:ea typeface="方正姚体" panose="02010601030101010101" pitchFamily="2" charset="-122"/>
                <a:cs typeface="+mn-cs"/>
              </a:rPr>
              <a:t>计算机学院</a:t>
            </a:r>
            <a:r>
              <a:rPr lang="en-US" altLang="zh-CN" sz="1200" kern="1200" dirty="0">
                <a:solidFill>
                  <a:schemeClr val="bg1"/>
                </a:solidFill>
                <a:latin typeface="Arial" panose="020B0604020202020204" pitchFamily="34" charset="0"/>
                <a:ea typeface="方正姚体" panose="02010601030101010101" pitchFamily="2" charset="-122"/>
                <a:cs typeface="+mn-cs"/>
              </a:rPr>
              <a:t>&amp;</a:t>
            </a:r>
            <a:r>
              <a:rPr lang="zh-CN" altLang="en-US" sz="1200" kern="1200" dirty="0">
                <a:solidFill>
                  <a:schemeClr val="bg1"/>
                </a:solidFill>
                <a:latin typeface="Arial" panose="020B0604020202020204" pitchFamily="34" charset="0"/>
                <a:ea typeface="方正姚体" panose="02010601030101010101" pitchFamily="2" charset="-122"/>
                <a:cs typeface="+mn-cs"/>
              </a:rPr>
              <a:t>网络空间安全学院</a:t>
            </a:r>
            <a:endParaRPr lang="zh-CN" altLang="en-US" sz="1200" kern="1200" dirty="0">
              <a:solidFill>
                <a:schemeClr val="bg1"/>
              </a:solidFill>
              <a:latin typeface="Arial" panose="020B060402020202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 "/>
        <a:defRPr sz="28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slide" Target="slide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slide" Target="slide8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1.xml"/><Relationship Id="rId5" Type="http://schemas.openxmlformats.org/officeDocument/2006/relationships/slide" Target="slide8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slide" Target="slide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slide" Target="slide8.xml"/><Relationship Id="rId4" Type="http://schemas.openxmlformats.org/officeDocument/2006/relationships/image" Target="../media/image17.emf"/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slide" Target="slide8.xml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slide" Target="slide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slide" Target="slide8.xml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slide" Target="slide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slide" Target="slide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8.xml"/><Relationship Id="rId1" Type="http://schemas.openxmlformats.org/officeDocument/2006/relationships/image" Target="../media/image22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slide" Target="slide8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1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85725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标题 7"/>
          <p:cNvSpPr>
            <a:spLocks noGrp="1"/>
          </p:cNvSpPr>
          <p:nvPr>
            <p:ph type="ctrTitle"/>
          </p:nvPr>
        </p:nvSpPr>
        <p:spPr>
          <a:xfrm>
            <a:off x="714375" y="2000250"/>
            <a:ext cx="7715250" cy="1928813"/>
          </a:xfrm>
        </p:spPr>
        <p:txBody>
          <a:bodyPr/>
          <a:lstStyle/>
          <a:p>
            <a:r>
              <a:rPr lang="zh-CN" altLang="en-US" dirty="0"/>
              <a:t>第二章 数据类型</a:t>
            </a:r>
            <a:endParaRPr lang="zh-CN" altLang="en-US" dirty="0"/>
          </a:p>
        </p:txBody>
      </p:sp>
      <p:sp>
        <p:nvSpPr>
          <p:cNvPr id="3076" name="副标题 8"/>
          <p:cNvSpPr>
            <a:spLocks noGrp="1"/>
          </p:cNvSpPr>
          <p:nvPr>
            <p:ph type="subTitle" idx="1"/>
          </p:nvPr>
        </p:nvSpPr>
        <p:spPr>
          <a:xfrm>
            <a:off x="714375" y="4000500"/>
            <a:ext cx="7715250" cy="1928813"/>
          </a:xfrm>
        </p:spPr>
        <p:txBody>
          <a:bodyPr/>
          <a:lstStyle/>
          <a:p>
            <a:r>
              <a:rPr lang="zh-CN" altLang="en-US" sz="2000" dirty="0"/>
              <a:t>主讲：  刘晓光</a:t>
            </a:r>
            <a:endParaRPr lang="en-US" altLang="zh-CN" sz="2000" dirty="0"/>
          </a:p>
          <a:p>
            <a:r>
              <a:rPr lang="zh-CN" altLang="en-US" sz="2000" dirty="0"/>
              <a:t>张海威  张   莹</a:t>
            </a:r>
            <a:endParaRPr lang="en-US" altLang="zh-CN" sz="2000" dirty="0"/>
          </a:p>
          <a:p>
            <a:r>
              <a:rPr lang="zh-CN" altLang="en-US" sz="2000" dirty="0"/>
              <a:t>殷爱茹  李雨森</a:t>
            </a:r>
            <a:endParaRPr lang="en-US" altLang="zh-CN" sz="2000" dirty="0"/>
          </a:p>
          <a:p>
            <a:r>
              <a:rPr lang="zh-CN" altLang="en-US" sz="2000" dirty="0"/>
              <a:t>宋春瑶  沈   玮</a:t>
            </a:r>
            <a:endParaRPr lang="en-US" altLang="zh-CN" sz="2000" dirty="0"/>
          </a:p>
          <a:p>
            <a:r>
              <a:rPr lang="zh-CN" altLang="en-US" sz="2000" dirty="0"/>
              <a:t>卢少平</a:t>
            </a:r>
            <a:endParaRPr lang="zh-CN" altLang="en-US" sz="2000" dirty="0"/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5796136" y="895350"/>
            <a:ext cx="319991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高级语言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ea typeface="华文琥珀" panose="02010800040101010101" pitchFamily="2" charset="-122"/>
                <a:cs typeface="Courier New" panose="02070309020205020404" pitchFamily="49" charset="0"/>
              </a:rPr>
              <a:t>C++</a:t>
            </a:r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程序设计</a:t>
            </a:r>
            <a:endParaRPr lang="zh-CN" altLang="en-US" sz="2400" dirty="0">
              <a:solidFill>
                <a:schemeClr val="bg1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95" y="5470071"/>
            <a:ext cx="1021334" cy="103568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847" y="5604206"/>
            <a:ext cx="1147610" cy="84877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3284984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2576760" y="3407305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9" name="组合 34"/>
          <p:cNvGrpSpPr/>
          <p:nvPr/>
        </p:nvGrpSpPr>
        <p:grpSpPr bwMode="auto">
          <a:xfrm>
            <a:off x="1664047" y="1412776"/>
            <a:ext cx="5356225" cy="1727783"/>
            <a:chOff x="1643042" y="3212518"/>
            <a:chExt cx="5356246" cy="1727791"/>
          </a:xfrm>
        </p:grpSpPr>
        <p:sp>
          <p:nvSpPr>
            <p:cNvPr id="40" name="五边形 3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45" name="五边形 4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47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51" name="椭圆 5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52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48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49" name="椭圆 48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50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53" name="TextBox 52"/>
          <p:cNvSpPr txBox="1"/>
          <p:nvPr/>
        </p:nvSpPr>
        <p:spPr>
          <a:xfrm>
            <a:off x="2578223" y="153231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数据与数据表示</a:t>
            </a:r>
            <a:endParaRPr lang="zh-CN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578223" y="2468421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3284984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2343632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3" name="TextBox 42"/>
          <p:cNvSpPr txBox="1"/>
          <p:nvPr/>
        </p:nvSpPr>
        <p:spPr>
          <a:xfrm>
            <a:off x="2578223" y="1582581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数据与数据表示</a:t>
            </a:r>
            <a:endParaRPr lang="zh-CN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578223" y="2468421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576760" y="3407305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1416909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1524942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200" y="1391032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什么是数据</a:t>
            </a:r>
            <a:endParaRPr lang="en-US" altLang="zh-CN" dirty="0"/>
          </a:p>
          <a:p>
            <a:pPr lvl="1"/>
            <a:r>
              <a:rPr lang="zh-CN" altLang="en-US" dirty="0"/>
              <a:t>计算机处理的对象</a:t>
            </a:r>
            <a:endParaRPr lang="en-US" altLang="zh-CN" dirty="0"/>
          </a:p>
          <a:p>
            <a:pPr lvl="1"/>
            <a:r>
              <a:rPr lang="zh-CN" altLang="en-US" dirty="0"/>
              <a:t>以某种特定的形式存在（数据类型）</a:t>
            </a:r>
            <a:endParaRPr lang="en-US" altLang="zh-CN" dirty="0"/>
          </a:p>
          <a:p>
            <a:pPr lvl="1"/>
            <a:r>
              <a:rPr lang="zh-CN" altLang="en-US" dirty="0"/>
              <a:t>数据之间存在某些联系</a:t>
            </a:r>
            <a:endParaRPr lang="en-US" altLang="zh-CN" dirty="0"/>
          </a:p>
          <a:p>
            <a:pPr lvl="1"/>
            <a:r>
              <a:rPr lang="zh-CN" altLang="en-US" dirty="0"/>
              <a:t>数据在程序设计中的地位</a:t>
            </a:r>
            <a:endParaRPr lang="en-US" altLang="zh-CN" dirty="0"/>
          </a:p>
          <a:p>
            <a:pPr lvl="2"/>
            <a:r>
              <a:rPr lang="zh-CN" altLang="en-US" dirty="0"/>
              <a:t>第一要素</a:t>
            </a:r>
            <a:endParaRPr lang="en-US" altLang="zh-CN" dirty="0"/>
          </a:p>
          <a:p>
            <a:pPr lvl="1"/>
            <a:r>
              <a:rPr lang="zh-CN" altLang="en-US" dirty="0"/>
              <a:t>程序设计中，数据用</a:t>
            </a:r>
            <a:r>
              <a:rPr lang="zh-CN" altLang="en-US" dirty="0">
                <a:solidFill>
                  <a:srgbClr val="C00000"/>
                </a:solidFill>
              </a:rPr>
              <a:t>常量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变量</a:t>
            </a:r>
            <a:r>
              <a:rPr lang="zh-CN" altLang="en-US" dirty="0"/>
              <a:t>进行描述</a:t>
            </a:r>
            <a:endParaRPr lang="en-US" altLang="zh-CN" dirty="0"/>
          </a:p>
          <a:p>
            <a:pPr lvl="2"/>
            <a:r>
              <a:rPr lang="zh-CN" altLang="en-US" dirty="0"/>
              <a:t>数组元素、类对象的性质与变量类似</a:t>
            </a:r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/>
              <a:t>每一项数据应唯一地属于某种类型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每一数据类型意味着一个有明确定义的值的集合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同一类型的数据占有相同大小的存储空间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同一类型的数据具有相同的（允许对其施加的）运算操作集</a:t>
            </a:r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7153275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7200" y="1000125"/>
            <a:ext cx="8229600" cy="714375"/>
          </a:xfrm>
        </p:spPr>
        <p:txBody>
          <a:bodyPr/>
          <a:lstStyle/>
          <a:p>
            <a:r>
              <a:rPr lang="zh-CN" altLang="en-US" dirty="0"/>
              <a:t>数据类型</a:t>
            </a:r>
            <a:endParaRPr lang="zh-CN" altLang="en-US" dirty="0"/>
          </a:p>
        </p:txBody>
      </p:sp>
      <p:sp>
        <p:nvSpPr>
          <p:cNvPr id="11" name="矩形 10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程序运行过程中不能改变值的数据，分为</a:t>
            </a:r>
            <a:endParaRPr lang="en-US" altLang="zh-CN" dirty="0"/>
          </a:p>
          <a:p>
            <a:pPr lvl="1"/>
            <a:r>
              <a:rPr lang="zh-CN" altLang="en-US" dirty="0"/>
              <a:t>字面值常量</a:t>
            </a:r>
            <a:endParaRPr lang="en-US" altLang="zh-CN" dirty="0"/>
          </a:p>
          <a:p>
            <a:pPr lvl="2"/>
            <a:r>
              <a:rPr lang="zh-CN" altLang="en-US" dirty="0"/>
              <a:t>整型字面值常量、浮点型字面值常量、字符型常量、字符串字面值常量、用户定义字面值常量</a:t>
            </a:r>
            <a:r>
              <a:rPr lang="en-US" altLang="zh-CN" dirty="0"/>
              <a:t>……</a:t>
            </a:r>
            <a:endParaRPr lang="en-US" altLang="zh-CN" dirty="0"/>
          </a:p>
          <a:p>
            <a:pPr lvl="1"/>
            <a:r>
              <a:rPr lang="zh-CN" altLang="en-US" dirty="0"/>
              <a:t>常变量</a:t>
            </a:r>
            <a:endParaRPr lang="en-US" altLang="zh-CN" dirty="0"/>
          </a:p>
          <a:p>
            <a:pPr lvl="2"/>
            <a:r>
              <a:rPr lang="zh-CN" altLang="en-US" dirty="0"/>
              <a:t>用</a:t>
            </a:r>
            <a:r>
              <a:rPr lang="en-US" altLang="zh-CN" dirty="0" err="1"/>
              <a:t>const</a:t>
            </a:r>
            <a:r>
              <a:rPr lang="zh-CN" altLang="en-US" dirty="0"/>
              <a:t>对变量进行限定</a:t>
            </a:r>
            <a:endParaRPr lang="en-US" altLang="zh-CN" dirty="0"/>
          </a:p>
          <a:p>
            <a:pPr lvl="2"/>
            <a:r>
              <a:rPr lang="zh-CN" altLang="en-US" dirty="0"/>
              <a:t>说明常变量</a:t>
            </a:r>
            <a:endParaRPr lang="en-US" altLang="zh-CN" dirty="0"/>
          </a:p>
          <a:p>
            <a:pPr lvl="3"/>
            <a:r>
              <a:rPr lang="en-US" altLang="zh-CN" dirty="0" err="1"/>
              <a:t>const</a:t>
            </a:r>
            <a:r>
              <a:rPr lang="en-US" altLang="zh-CN" dirty="0"/>
              <a:t> &lt;</a:t>
            </a:r>
            <a:r>
              <a:rPr lang="zh-CN" altLang="en-US" dirty="0"/>
              <a:t>数据类型</a:t>
            </a:r>
            <a:r>
              <a:rPr lang="en-US" altLang="zh-CN" dirty="0"/>
              <a:t>&gt; &lt;</a:t>
            </a:r>
            <a:r>
              <a:rPr lang="zh-CN" altLang="en-US" dirty="0"/>
              <a:t>常量名</a:t>
            </a:r>
            <a:r>
              <a:rPr lang="en-US" altLang="zh-CN" dirty="0"/>
              <a:t>&gt; = 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endParaRPr lang="en-US" altLang="zh-CN" dirty="0"/>
          </a:p>
          <a:p>
            <a:pPr lvl="1"/>
            <a:r>
              <a:rPr lang="zh-CN" altLang="en-US" dirty="0"/>
              <a:t>宏定义常量</a:t>
            </a:r>
            <a:endParaRPr lang="en-US" altLang="zh-CN" dirty="0"/>
          </a:p>
          <a:p>
            <a:pPr lvl="2"/>
            <a:r>
              <a:rPr lang="en-US" altLang="zh-CN" dirty="0"/>
              <a:t>#define &lt;</a:t>
            </a:r>
            <a:r>
              <a:rPr lang="zh-CN" altLang="en-US" dirty="0"/>
              <a:t>宏名</a:t>
            </a:r>
            <a:r>
              <a:rPr lang="en-US" altLang="zh-CN" dirty="0"/>
              <a:t>&gt; &lt;</a:t>
            </a:r>
            <a:r>
              <a:rPr lang="zh-CN" altLang="en-US" dirty="0"/>
              <a:t>宏替换体</a:t>
            </a:r>
            <a:r>
              <a:rPr lang="en-US" altLang="zh-CN" dirty="0"/>
              <a:t>&gt;</a:t>
            </a:r>
            <a:endParaRPr lang="en-US" altLang="zh-CN" dirty="0"/>
          </a:p>
          <a:p>
            <a:pPr lvl="3"/>
            <a:r>
              <a:rPr lang="zh-CN" altLang="en-US" dirty="0"/>
              <a:t>宏名可理解为常量名，宏替换体可理解为常量值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  <a:endParaRPr lang="zh-CN" altLang="en-US" dirty="0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  <a:endParaRPr lang="en-US" altLang="zh-CN" dirty="0"/>
          </a:p>
          <a:p>
            <a:pPr lvl="1"/>
            <a:r>
              <a:rPr lang="zh-CN" altLang="en-US" dirty="0"/>
              <a:t>程序运行过程中其值能够改变的数据</a:t>
            </a:r>
            <a:endParaRPr lang="en-US" altLang="zh-CN" dirty="0"/>
          </a:p>
          <a:p>
            <a:pPr lvl="1"/>
            <a:r>
              <a:rPr lang="zh-CN" altLang="en-US" dirty="0"/>
              <a:t>根据变量的数据类型，在内存中开辟相应大小的空间</a:t>
            </a:r>
            <a:endParaRPr lang="en-US" altLang="zh-CN" dirty="0"/>
          </a:p>
          <a:p>
            <a:pPr lvl="1"/>
            <a:r>
              <a:rPr lang="zh-CN" altLang="en-US" dirty="0"/>
              <a:t>变量的存储类型</a:t>
            </a:r>
            <a:endParaRPr lang="en-US" altLang="zh-CN" dirty="0"/>
          </a:p>
          <a:p>
            <a:pPr lvl="2"/>
            <a:r>
              <a:rPr lang="en-US" altLang="zh-CN" dirty="0"/>
              <a:t>static</a:t>
            </a:r>
            <a:endParaRPr lang="en-US" altLang="zh-CN" dirty="0"/>
          </a:p>
          <a:p>
            <a:pPr lvl="2"/>
            <a:r>
              <a:rPr lang="en-US" altLang="zh-CN" dirty="0"/>
              <a:t>thread-local</a:t>
            </a:r>
            <a:endParaRPr lang="en-US" altLang="zh-CN" dirty="0"/>
          </a:p>
          <a:p>
            <a:pPr lvl="2"/>
            <a:r>
              <a:rPr lang="en-US" altLang="zh-CN" dirty="0"/>
              <a:t>extern</a:t>
            </a:r>
            <a:endParaRPr lang="en-US" altLang="zh-CN" dirty="0"/>
          </a:p>
          <a:p>
            <a:pPr lvl="2"/>
            <a:r>
              <a:rPr lang="en-US" altLang="zh-CN" dirty="0"/>
              <a:t>mutable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  <a:endParaRPr lang="zh-CN" altLang="en-US" dirty="0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说明变量</a:t>
            </a:r>
            <a:endParaRPr lang="en-US" altLang="zh-CN" dirty="0"/>
          </a:p>
          <a:p>
            <a:pPr lvl="1"/>
            <a:r>
              <a:rPr lang="zh-CN" altLang="en-US" dirty="0"/>
              <a:t>赋给该变量一标识符作为其名</a:t>
            </a:r>
            <a:endParaRPr lang="en-US" altLang="zh-CN" dirty="0"/>
          </a:p>
          <a:p>
            <a:pPr lvl="1"/>
            <a:r>
              <a:rPr lang="zh-CN" altLang="en-US" dirty="0"/>
              <a:t>指定其类型</a:t>
            </a:r>
            <a:endParaRPr lang="en-US" altLang="zh-CN" dirty="0"/>
          </a:p>
          <a:p>
            <a:pPr lvl="1"/>
            <a:r>
              <a:rPr lang="zh-CN" altLang="en-US" dirty="0"/>
              <a:t>在内存中分配给它一片存放空间，其大小由类型决定</a:t>
            </a:r>
            <a:endParaRPr lang="en-US" altLang="zh-CN" dirty="0"/>
          </a:p>
          <a:p>
            <a:pPr lvl="1"/>
            <a:r>
              <a:rPr lang="zh-CN" altLang="en-US" dirty="0"/>
              <a:t>使用说明语句</a:t>
            </a:r>
            <a:endParaRPr lang="en-US" altLang="zh-CN" dirty="0"/>
          </a:p>
          <a:p>
            <a:pPr lvl="2"/>
            <a:r>
              <a:rPr lang="zh-CN" altLang="en-US" dirty="0"/>
              <a:t>在说明语句中，通过赋初值给它一个当前值，作为变量的初始值，该过程称为变量</a:t>
            </a:r>
            <a:r>
              <a:rPr lang="zh-CN" altLang="en-US" dirty="0">
                <a:solidFill>
                  <a:srgbClr val="C00000"/>
                </a:solidFill>
              </a:rPr>
              <a:t>初始化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常变量与变量的存储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自动变量（</a:t>
            </a:r>
            <a:r>
              <a:rPr lang="en-US" altLang="zh-CN" dirty="0"/>
              <a:t>C</a:t>
            </a:r>
            <a:r>
              <a:rPr lang="zh-CN" altLang="en-US" dirty="0"/>
              <a:t>语言的概念）就是普通变量</a:t>
            </a:r>
            <a:endParaRPr lang="en-US" altLang="zh-CN" dirty="0"/>
          </a:p>
          <a:p>
            <a:pPr lvl="1"/>
            <a:r>
              <a:rPr lang="zh-CN" altLang="en-US" dirty="0"/>
              <a:t>外部变量存储与其所指变量的存储位置有关</a:t>
            </a:r>
            <a:endParaRPr lang="en-US" altLang="zh-CN" dirty="0"/>
          </a:p>
          <a:p>
            <a:pPr lvl="1"/>
            <a:r>
              <a:rPr lang="zh-CN" altLang="en-US" dirty="0"/>
              <a:t>还有一类存储于</a:t>
            </a:r>
            <a:r>
              <a:rPr lang="en-US" altLang="zh-CN" dirty="0"/>
              <a:t>CPU</a:t>
            </a:r>
            <a:r>
              <a:rPr lang="zh-CN" altLang="en-US" dirty="0"/>
              <a:t>寄存器中的变量，称为寄存器变量（</a:t>
            </a:r>
            <a:r>
              <a:rPr lang="en-US" altLang="zh-CN" dirty="0"/>
              <a:t>register</a:t>
            </a:r>
            <a:r>
              <a:rPr lang="zh-CN" altLang="en-US" dirty="0"/>
              <a:t>），也属于</a:t>
            </a:r>
            <a:r>
              <a:rPr lang="en-US" altLang="zh-CN" dirty="0"/>
              <a:t>C</a:t>
            </a:r>
            <a:r>
              <a:rPr lang="zh-CN" altLang="en-US" dirty="0"/>
              <a:t>语言的概念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65456" y="1772816"/>
            <a:ext cx="2705536" cy="253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5237" y="1700808"/>
            <a:ext cx="3143067" cy="8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5237" y="2564904"/>
            <a:ext cx="3143067" cy="8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65237" y="3429000"/>
            <a:ext cx="3143067" cy="8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3284984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35931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0720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576760" y="3407305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2301173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2409206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2255128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矩形 5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Freeform 3"/>
          <p:cNvSpPr>
            <a:spLocks noEditPoints="1"/>
          </p:cNvSpPr>
          <p:nvPr/>
        </p:nvSpPr>
        <p:spPr bwMode="gray">
          <a:xfrm rot="20241943">
            <a:off x="1077913" y="2614613"/>
            <a:ext cx="6853237" cy="2803525"/>
          </a:xfrm>
          <a:custGeom>
            <a:avLst/>
            <a:gdLst/>
            <a:ahLst/>
            <a:cxnLst>
              <a:cxn ang="0">
                <a:pos x="1692" y="12"/>
              </a:cxn>
              <a:cxn ang="0">
                <a:pos x="1234" y="74"/>
              </a:cxn>
              <a:cxn ang="0">
                <a:pos x="828" y="182"/>
              </a:cxn>
              <a:cxn ang="0">
                <a:pos x="486" y="330"/>
              </a:cxn>
              <a:cxn ang="0">
                <a:pos x="226" y="510"/>
              </a:cxn>
              <a:cxn ang="0">
                <a:pos x="58" y="718"/>
              </a:cxn>
              <a:cxn ang="0">
                <a:pos x="0" y="944"/>
              </a:cxn>
              <a:cxn ang="0">
                <a:pos x="58" y="1170"/>
              </a:cxn>
              <a:cxn ang="0">
                <a:pos x="226" y="1378"/>
              </a:cxn>
              <a:cxn ang="0">
                <a:pos x="486" y="1558"/>
              </a:cxn>
              <a:cxn ang="0">
                <a:pos x="828" y="1706"/>
              </a:cxn>
              <a:cxn ang="0">
                <a:pos x="1234" y="1814"/>
              </a:cxn>
              <a:cxn ang="0">
                <a:pos x="1692" y="1876"/>
              </a:cxn>
              <a:cxn ang="0">
                <a:pos x="2186" y="1884"/>
              </a:cxn>
              <a:cxn ang="0">
                <a:pos x="2658" y="1840"/>
              </a:cxn>
              <a:cxn ang="0">
                <a:pos x="3084" y="1746"/>
              </a:cxn>
              <a:cxn ang="0">
                <a:pos x="3448" y="1612"/>
              </a:cxn>
              <a:cxn ang="0">
                <a:pos x="3738" y="1442"/>
              </a:cxn>
              <a:cxn ang="0">
                <a:pos x="3938" y="1242"/>
              </a:cxn>
              <a:cxn ang="0">
                <a:pos x="4034" y="1022"/>
              </a:cxn>
              <a:cxn ang="0">
                <a:pos x="4014" y="790"/>
              </a:cxn>
              <a:cxn ang="0">
                <a:pos x="3882" y="576"/>
              </a:cxn>
              <a:cxn ang="0">
                <a:pos x="3650" y="386"/>
              </a:cxn>
              <a:cxn ang="0">
                <a:pos x="3334" y="228"/>
              </a:cxn>
              <a:cxn ang="0">
                <a:pos x="2948" y="106"/>
              </a:cxn>
              <a:cxn ang="0">
                <a:pos x="2506" y="28"/>
              </a:cxn>
              <a:cxn ang="0">
                <a:pos x="2020" y="0"/>
              </a:cxn>
              <a:cxn ang="0">
                <a:pos x="1606" y="1736"/>
              </a:cxn>
              <a:cxn ang="0">
                <a:pos x="1164" y="1678"/>
              </a:cxn>
              <a:cxn ang="0">
                <a:pos x="776" y="1576"/>
              </a:cxn>
              <a:cxn ang="0">
                <a:pos x="458" y="1436"/>
              </a:cxn>
              <a:cxn ang="0">
                <a:pos x="224" y="1266"/>
              </a:cxn>
              <a:cxn ang="0">
                <a:pos x="88" y="1074"/>
              </a:cxn>
              <a:cxn ang="0">
                <a:pos x="68" y="864"/>
              </a:cxn>
              <a:cxn ang="0">
                <a:pos x="166" y="664"/>
              </a:cxn>
              <a:cxn ang="0">
                <a:pos x="370" y="486"/>
              </a:cxn>
              <a:cxn ang="0">
                <a:pos x="662" y="336"/>
              </a:cxn>
              <a:cxn ang="0">
                <a:pos x="1028" y="222"/>
              </a:cxn>
              <a:cxn ang="0">
                <a:pos x="1454" y="148"/>
              </a:cxn>
              <a:cxn ang="0">
                <a:pos x="1922" y="120"/>
              </a:cxn>
              <a:cxn ang="0">
                <a:pos x="2392" y="148"/>
              </a:cxn>
              <a:cxn ang="0">
                <a:pos x="2818" y="222"/>
              </a:cxn>
              <a:cxn ang="0">
                <a:pos x="3184" y="336"/>
              </a:cxn>
              <a:cxn ang="0">
                <a:pos x="3476" y="486"/>
              </a:cxn>
              <a:cxn ang="0">
                <a:pos x="3680" y="664"/>
              </a:cxn>
              <a:cxn ang="0">
                <a:pos x="3778" y="864"/>
              </a:cxn>
              <a:cxn ang="0">
                <a:pos x="3758" y="1074"/>
              </a:cxn>
              <a:cxn ang="0">
                <a:pos x="3622" y="1266"/>
              </a:cxn>
              <a:cxn ang="0">
                <a:pos x="3388" y="1436"/>
              </a:cxn>
              <a:cxn ang="0">
                <a:pos x="3070" y="1576"/>
              </a:cxn>
              <a:cxn ang="0">
                <a:pos x="2682" y="1678"/>
              </a:cxn>
              <a:cxn ang="0">
                <a:pos x="2240" y="1736"/>
              </a:cxn>
            </a:cxnLst>
            <a:rect l="0" t="0" r="r" b="b"/>
            <a:pathLst>
              <a:path w="4040" h="1888">
                <a:moveTo>
                  <a:pt x="2020" y="0"/>
                </a:moveTo>
                <a:lnTo>
                  <a:pt x="1854" y="4"/>
                </a:lnTo>
                <a:lnTo>
                  <a:pt x="1692" y="12"/>
                </a:lnTo>
                <a:lnTo>
                  <a:pt x="1534" y="28"/>
                </a:lnTo>
                <a:lnTo>
                  <a:pt x="1382" y="48"/>
                </a:lnTo>
                <a:lnTo>
                  <a:pt x="1234" y="74"/>
                </a:lnTo>
                <a:lnTo>
                  <a:pt x="1092" y="106"/>
                </a:lnTo>
                <a:lnTo>
                  <a:pt x="956" y="142"/>
                </a:lnTo>
                <a:lnTo>
                  <a:pt x="828" y="182"/>
                </a:lnTo>
                <a:lnTo>
                  <a:pt x="706" y="228"/>
                </a:lnTo>
                <a:lnTo>
                  <a:pt x="592" y="276"/>
                </a:lnTo>
                <a:lnTo>
                  <a:pt x="486" y="330"/>
                </a:lnTo>
                <a:lnTo>
                  <a:pt x="390" y="386"/>
                </a:lnTo>
                <a:lnTo>
                  <a:pt x="302" y="446"/>
                </a:lnTo>
                <a:lnTo>
                  <a:pt x="226" y="510"/>
                </a:lnTo>
                <a:lnTo>
                  <a:pt x="158" y="576"/>
                </a:lnTo>
                <a:lnTo>
                  <a:pt x="102" y="646"/>
                </a:lnTo>
                <a:lnTo>
                  <a:pt x="58" y="718"/>
                </a:lnTo>
                <a:lnTo>
                  <a:pt x="26" y="790"/>
                </a:lnTo>
                <a:lnTo>
                  <a:pt x="6" y="866"/>
                </a:lnTo>
                <a:lnTo>
                  <a:pt x="0" y="944"/>
                </a:lnTo>
                <a:lnTo>
                  <a:pt x="6" y="1022"/>
                </a:lnTo>
                <a:lnTo>
                  <a:pt x="26" y="1098"/>
                </a:lnTo>
                <a:lnTo>
                  <a:pt x="58" y="1170"/>
                </a:lnTo>
                <a:lnTo>
                  <a:pt x="102" y="1242"/>
                </a:lnTo>
                <a:lnTo>
                  <a:pt x="158" y="1312"/>
                </a:lnTo>
                <a:lnTo>
                  <a:pt x="226" y="1378"/>
                </a:lnTo>
                <a:lnTo>
                  <a:pt x="302" y="1442"/>
                </a:lnTo>
                <a:lnTo>
                  <a:pt x="390" y="1502"/>
                </a:lnTo>
                <a:lnTo>
                  <a:pt x="486" y="1558"/>
                </a:lnTo>
                <a:lnTo>
                  <a:pt x="592" y="1612"/>
                </a:lnTo>
                <a:lnTo>
                  <a:pt x="706" y="1660"/>
                </a:lnTo>
                <a:lnTo>
                  <a:pt x="828" y="1706"/>
                </a:lnTo>
                <a:lnTo>
                  <a:pt x="956" y="1746"/>
                </a:lnTo>
                <a:lnTo>
                  <a:pt x="1092" y="1782"/>
                </a:lnTo>
                <a:lnTo>
                  <a:pt x="1234" y="1814"/>
                </a:lnTo>
                <a:lnTo>
                  <a:pt x="1382" y="1840"/>
                </a:lnTo>
                <a:lnTo>
                  <a:pt x="1534" y="1860"/>
                </a:lnTo>
                <a:lnTo>
                  <a:pt x="1692" y="1876"/>
                </a:lnTo>
                <a:lnTo>
                  <a:pt x="1854" y="1884"/>
                </a:lnTo>
                <a:lnTo>
                  <a:pt x="2020" y="1888"/>
                </a:lnTo>
                <a:lnTo>
                  <a:pt x="2186" y="1884"/>
                </a:lnTo>
                <a:lnTo>
                  <a:pt x="2348" y="1876"/>
                </a:lnTo>
                <a:lnTo>
                  <a:pt x="2506" y="1860"/>
                </a:lnTo>
                <a:lnTo>
                  <a:pt x="2658" y="1840"/>
                </a:lnTo>
                <a:lnTo>
                  <a:pt x="2806" y="1814"/>
                </a:lnTo>
                <a:lnTo>
                  <a:pt x="2948" y="1782"/>
                </a:lnTo>
                <a:lnTo>
                  <a:pt x="3084" y="1746"/>
                </a:lnTo>
                <a:lnTo>
                  <a:pt x="3212" y="1706"/>
                </a:lnTo>
                <a:lnTo>
                  <a:pt x="3334" y="1660"/>
                </a:lnTo>
                <a:lnTo>
                  <a:pt x="3448" y="1612"/>
                </a:lnTo>
                <a:lnTo>
                  <a:pt x="3554" y="1558"/>
                </a:lnTo>
                <a:lnTo>
                  <a:pt x="3650" y="1502"/>
                </a:lnTo>
                <a:lnTo>
                  <a:pt x="3738" y="1442"/>
                </a:lnTo>
                <a:lnTo>
                  <a:pt x="3814" y="1378"/>
                </a:lnTo>
                <a:lnTo>
                  <a:pt x="3882" y="1312"/>
                </a:lnTo>
                <a:lnTo>
                  <a:pt x="3938" y="1242"/>
                </a:lnTo>
                <a:lnTo>
                  <a:pt x="3982" y="1170"/>
                </a:lnTo>
                <a:lnTo>
                  <a:pt x="4014" y="1098"/>
                </a:lnTo>
                <a:lnTo>
                  <a:pt x="4034" y="1022"/>
                </a:lnTo>
                <a:lnTo>
                  <a:pt x="4040" y="944"/>
                </a:lnTo>
                <a:lnTo>
                  <a:pt x="4034" y="866"/>
                </a:lnTo>
                <a:lnTo>
                  <a:pt x="4014" y="790"/>
                </a:lnTo>
                <a:lnTo>
                  <a:pt x="3982" y="718"/>
                </a:lnTo>
                <a:lnTo>
                  <a:pt x="3938" y="646"/>
                </a:lnTo>
                <a:lnTo>
                  <a:pt x="3882" y="576"/>
                </a:lnTo>
                <a:lnTo>
                  <a:pt x="3814" y="510"/>
                </a:lnTo>
                <a:lnTo>
                  <a:pt x="3738" y="446"/>
                </a:lnTo>
                <a:lnTo>
                  <a:pt x="3650" y="386"/>
                </a:lnTo>
                <a:lnTo>
                  <a:pt x="3554" y="330"/>
                </a:lnTo>
                <a:lnTo>
                  <a:pt x="3448" y="276"/>
                </a:lnTo>
                <a:lnTo>
                  <a:pt x="3334" y="228"/>
                </a:lnTo>
                <a:lnTo>
                  <a:pt x="3212" y="182"/>
                </a:lnTo>
                <a:lnTo>
                  <a:pt x="3084" y="142"/>
                </a:lnTo>
                <a:lnTo>
                  <a:pt x="2948" y="106"/>
                </a:lnTo>
                <a:lnTo>
                  <a:pt x="2806" y="74"/>
                </a:lnTo>
                <a:lnTo>
                  <a:pt x="2658" y="48"/>
                </a:lnTo>
                <a:lnTo>
                  <a:pt x="2506" y="28"/>
                </a:lnTo>
                <a:lnTo>
                  <a:pt x="2348" y="12"/>
                </a:lnTo>
                <a:lnTo>
                  <a:pt x="2186" y="4"/>
                </a:lnTo>
                <a:lnTo>
                  <a:pt x="2020" y="0"/>
                </a:lnTo>
                <a:close/>
                <a:moveTo>
                  <a:pt x="1922" y="1748"/>
                </a:moveTo>
                <a:lnTo>
                  <a:pt x="1762" y="1746"/>
                </a:lnTo>
                <a:lnTo>
                  <a:pt x="1606" y="1736"/>
                </a:lnTo>
                <a:lnTo>
                  <a:pt x="1454" y="1722"/>
                </a:lnTo>
                <a:lnTo>
                  <a:pt x="1306" y="1702"/>
                </a:lnTo>
                <a:lnTo>
                  <a:pt x="1164" y="1678"/>
                </a:lnTo>
                <a:lnTo>
                  <a:pt x="1028" y="1648"/>
                </a:lnTo>
                <a:lnTo>
                  <a:pt x="898" y="1614"/>
                </a:lnTo>
                <a:lnTo>
                  <a:pt x="776" y="1576"/>
                </a:lnTo>
                <a:lnTo>
                  <a:pt x="662" y="1532"/>
                </a:lnTo>
                <a:lnTo>
                  <a:pt x="554" y="1486"/>
                </a:lnTo>
                <a:lnTo>
                  <a:pt x="458" y="1436"/>
                </a:lnTo>
                <a:lnTo>
                  <a:pt x="370" y="1382"/>
                </a:lnTo>
                <a:lnTo>
                  <a:pt x="292" y="1326"/>
                </a:lnTo>
                <a:lnTo>
                  <a:pt x="224" y="1266"/>
                </a:lnTo>
                <a:lnTo>
                  <a:pt x="166" y="1204"/>
                </a:lnTo>
                <a:lnTo>
                  <a:pt x="122" y="1140"/>
                </a:lnTo>
                <a:lnTo>
                  <a:pt x="88" y="1074"/>
                </a:lnTo>
                <a:lnTo>
                  <a:pt x="68" y="1004"/>
                </a:lnTo>
                <a:lnTo>
                  <a:pt x="62" y="934"/>
                </a:lnTo>
                <a:lnTo>
                  <a:pt x="68" y="864"/>
                </a:lnTo>
                <a:lnTo>
                  <a:pt x="88" y="796"/>
                </a:lnTo>
                <a:lnTo>
                  <a:pt x="122" y="730"/>
                </a:lnTo>
                <a:lnTo>
                  <a:pt x="166" y="664"/>
                </a:lnTo>
                <a:lnTo>
                  <a:pt x="224" y="602"/>
                </a:lnTo>
                <a:lnTo>
                  <a:pt x="292" y="544"/>
                </a:lnTo>
                <a:lnTo>
                  <a:pt x="370" y="486"/>
                </a:lnTo>
                <a:lnTo>
                  <a:pt x="458" y="434"/>
                </a:lnTo>
                <a:lnTo>
                  <a:pt x="554" y="382"/>
                </a:lnTo>
                <a:lnTo>
                  <a:pt x="662" y="336"/>
                </a:lnTo>
                <a:lnTo>
                  <a:pt x="776" y="294"/>
                </a:lnTo>
                <a:lnTo>
                  <a:pt x="898" y="256"/>
                </a:lnTo>
                <a:lnTo>
                  <a:pt x="1028" y="222"/>
                </a:lnTo>
                <a:lnTo>
                  <a:pt x="1164" y="192"/>
                </a:lnTo>
                <a:lnTo>
                  <a:pt x="1306" y="166"/>
                </a:lnTo>
                <a:lnTo>
                  <a:pt x="1454" y="148"/>
                </a:lnTo>
                <a:lnTo>
                  <a:pt x="1606" y="132"/>
                </a:lnTo>
                <a:lnTo>
                  <a:pt x="1762" y="124"/>
                </a:lnTo>
                <a:lnTo>
                  <a:pt x="1922" y="120"/>
                </a:lnTo>
                <a:lnTo>
                  <a:pt x="2084" y="124"/>
                </a:lnTo>
                <a:lnTo>
                  <a:pt x="2240" y="132"/>
                </a:lnTo>
                <a:lnTo>
                  <a:pt x="2392" y="148"/>
                </a:lnTo>
                <a:lnTo>
                  <a:pt x="2540" y="166"/>
                </a:lnTo>
                <a:lnTo>
                  <a:pt x="2682" y="192"/>
                </a:lnTo>
                <a:lnTo>
                  <a:pt x="2818" y="222"/>
                </a:lnTo>
                <a:lnTo>
                  <a:pt x="2948" y="256"/>
                </a:lnTo>
                <a:lnTo>
                  <a:pt x="3070" y="294"/>
                </a:lnTo>
                <a:lnTo>
                  <a:pt x="3184" y="336"/>
                </a:lnTo>
                <a:lnTo>
                  <a:pt x="3292" y="382"/>
                </a:lnTo>
                <a:lnTo>
                  <a:pt x="3388" y="434"/>
                </a:lnTo>
                <a:lnTo>
                  <a:pt x="3476" y="486"/>
                </a:lnTo>
                <a:lnTo>
                  <a:pt x="3554" y="544"/>
                </a:lnTo>
                <a:lnTo>
                  <a:pt x="3622" y="602"/>
                </a:lnTo>
                <a:lnTo>
                  <a:pt x="3680" y="664"/>
                </a:lnTo>
                <a:lnTo>
                  <a:pt x="3724" y="730"/>
                </a:lnTo>
                <a:lnTo>
                  <a:pt x="3758" y="796"/>
                </a:lnTo>
                <a:lnTo>
                  <a:pt x="3778" y="864"/>
                </a:lnTo>
                <a:lnTo>
                  <a:pt x="3784" y="934"/>
                </a:lnTo>
                <a:lnTo>
                  <a:pt x="3778" y="1004"/>
                </a:lnTo>
                <a:lnTo>
                  <a:pt x="3758" y="1074"/>
                </a:lnTo>
                <a:lnTo>
                  <a:pt x="3724" y="1140"/>
                </a:lnTo>
                <a:lnTo>
                  <a:pt x="3680" y="1204"/>
                </a:lnTo>
                <a:lnTo>
                  <a:pt x="3622" y="1266"/>
                </a:lnTo>
                <a:lnTo>
                  <a:pt x="3554" y="1326"/>
                </a:lnTo>
                <a:lnTo>
                  <a:pt x="3476" y="1382"/>
                </a:lnTo>
                <a:lnTo>
                  <a:pt x="3388" y="1436"/>
                </a:lnTo>
                <a:lnTo>
                  <a:pt x="3292" y="1486"/>
                </a:lnTo>
                <a:lnTo>
                  <a:pt x="3184" y="1532"/>
                </a:lnTo>
                <a:lnTo>
                  <a:pt x="3070" y="1576"/>
                </a:lnTo>
                <a:lnTo>
                  <a:pt x="2948" y="1614"/>
                </a:lnTo>
                <a:lnTo>
                  <a:pt x="2818" y="1648"/>
                </a:lnTo>
                <a:lnTo>
                  <a:pt x="2682" y="1678"/>
                </a:lnTo>
                <a:lnTo>
                  <a:pt x="2540" y="1702"/>
                </a:lnTo>
                <a:lnTo>
                  <a:pt x="2392" y="1722"/>
                </a:lnTo>
                <a:lnTo>
                  <a:pt x="2240" y="1736"/>
                </a:lnTo>
                <a:lnTo>
                  <a:pt x="2084" y="1746"/>
                </a:lnTo>
                <a:lnTo>
                  <a:pt x="1922" y="174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>
            <a:noFill/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gray">
          <a:xfrm>
            <a:off x="3810000" y="1752600"/>
            <a:ext cx="1284288" cy="1274763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3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gray">
          <a:xfrm>
            <a:off x="1295400" y="3276600"/>
            <a:ext cx="1284288" cy="127476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31373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gray">
          <a:xfrm>
            <a:off x="2178050" y="4973638"/>
            <a:ext cx="1282700" cy="1274762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35686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gray">
          <a:xfrm>
            <a:off x="4953000" y="4343400"/>
            <a:ext cx="1284288" cy="1274763"/>
          </a:xfrm>
          <a:prstGeom prst="ellipse">
            <a:avLst/>
          </a:prstGeom>
          <a:gradFill rotWithShape="1">
            <a:gsLst>
              <a:gs pos="0">
                <a:srgbClr val="692AA2"/>
              </a:gs>
              <a:gs pos="100000">
                <a:srgbClr val="692AA2">
                  <a:gamma/>
                  <a:shade val="57647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gray">
          <a:xfrm>
            <a:off x="6781800" y="1981200"/>
            <a:ext cx="1212850" cy="1274763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3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white">
          <a:xfrm>
            <a:off x="1532486" y="3667116"/>
            <a:ext cx="80342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整型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white">
          <a:xfrm>
            <a:off x="3944860" y="2143116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浮点型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white">
          <a:xfrm>
            <a:off x="6893725" y="2362184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字符型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4" name="Text Box 12"/>
          <p:cNvSpPr txBox="1">
            <a:spLocks noChangeArrowheads="1"/>
          </p:cNvSpPr>
          <p:nvPr/>
        </p:nvSpPr>
        <p:spPr bwMode="white">
          <a:xfrm>
            <a:off x="5087868" y="4719638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布尔型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5" name="Text Box 13"/>
          <p:cNvSpPr txBox="1">
            <a:spLocks noChangeArrowheads="1"/>
          </p:cNvSpPr>
          <p:nvPr/>
        </p:nvSpPr>
        <p:spPr bwMode="white">
          <a:xfrm>
            <a:off x="2250255" y="5357804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无值型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基本数据类型</a:t>
            </a:r>
            <a:endParaRPr lang="zh-CN" altLang="en-US" sz="3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1" name="矩形 20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矩形 21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矩形 22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矩形 23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矩形 2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矩形 2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矩形 2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矩形 2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表示整数，用关键字</a:t>
            </a:r>
            <a:r>
              <a:rPr lang="en-US" altLang="zh-CN" dirty="0" err="1"/>
              <a:t>int</a:t>
            </a:r>
            <a:r>
              <a:rPr lang="zh-CN" altLang="en-US" dirty="0"/>
              <a:t>描述</a:t>
            </a:r>
            <a:endParaRPr lang="en-US" altLang="zh-CN" dirty="0"/>
          </a:p>
          <a:p>
            <a:pPr lvl="1"/>
            <a:r>
              <a:rPr lang="zh-CN" altLang="en-US" dirty="0"/>
              <a:t>正数、负数、</a:t>
            </a:r>
            <a:r>
              <a:rPr lang="en-US" altLang="zh-CN" dirty="0"/>
              <a:t>0</a:t>
            </a:r>
            <a:endParaRPr lang="en-US" altLang="zh-CN" dirty="0"/>
          </a:p>
          <a:p>
            <a:r>
              <a:rPr lang="zh-CN" altLang="en-US" dirty="0"/>
              <a:t>最常用、最基本的数据类型</a:t>
            </a:r>
            <a:endParaRPr lang="en-US" altLang="zh-CN" dirty="0"/>
          </a:p>
          <a:p>
            <a:r>
              <a:rPr lang="en-US" altLang="zh-CN" dirty="0"/>
              <a:t>short</a:t>
            </a:r>
            <a:r>
              <a:rPr lang="zh-CN" altLang="en-US" dirty="0"/>
              <a:t>、</a:t>
            </a:r>
            <a:r>
              <a:rPr lang="en-US" altLang="zh-CN" dirty="0"/>
              <a:t>long</a:t>
            </a:r>
            <a:r>
              <a:rPr lang="zh-CN" altLang="en-US" dirty="0"/>
              <a:t>、</a:t>
            </a:r>
            <a:r>
              <a:rPr lang="en-US" altLang="zh-CN" dirty="0"/>
              <a:t>signed</a:t>
            </a:r>
            <a:r>
              <a:rPr lang="zh-CN" altLang="en-US" dirty="0"/>
              <a:t>和</a:t>
            </a:r>
            <a:r>
              <a:rPr lang="en-US" altLang="zh-CN" dirty="0"/>
              <a:t>unsigned</a:t>
            </a:r>
            <a:r>
              <a:rPr lang="zh-CN" altLang="en-US" dirty="0"/>
              <a:t>描述不同类型的整型数据</a:t>
            </a:r>
            <a:r>
              <a:rPr lang="en-US" altLang="zh-CN" dirty="0"/>
              <a:t>——</a:t>
            </a:r>
            <a:r>
              <a:rPr lang="zh-CN" altLang="en-US" dirty="0"/>
              <a:t>整型的派生类型</a:t>
            </a:r>
            <a:endParaRPr lang="en-US" altLang="zh-CN" dirty="0"/>
          </a:p>
          <a:p>
            <a:r>
              <a:rPr lang="en-US" altLang="zh-CN" dirty="0"/>
              <a:t>C++</a:t>
            </a:r>
            <a:r>
              <a:rPr lang="zh-CN" altLang="en-US" dirty="0"/>
              <a:t>语言规定整型数据占</a:t>
            </a:r>
            <a:r>
              <a:rPr lang="en-US" altLang="zh-CN" dirty="0"/>
              <a:t>4</a:t>
            </a:r>
            <a:r>
              <a:rPr lang="zh-CN" altLang="en-US" dirty="0"/>
              <a:t>个字节存储空间</a:t>
            </a:r>
            <a:endParaRPr lang="en-US" altLang="zh-CN" dirty="0"/>
          </a:p>
          <a:p>
            <a:pPr lvl="1"/>
            <a:r>
              <a:rPr lang="zh-CN" altLang="en-US" dirty="0"/>
              <a:t>短整型（</a:t>
            </a:r>
            <a:r>
              <a:rPr lang="en-US" altLang="zh-CN" dirty="0"/>
              <a:t>short </a:t>
            </a:r>
            <a:r>
              <a:rPr lang="en-US" altLang="zh-CN" dirty="0" err="1"/>
              <a:t>int</a:t>
            </a:r>
            <a:r>
              <a:rPr lang="zh-CN" altLang="en-US" dirty="0"/>
              <a:t>）占</a:t>
            </a:r>
            <a:r>
              <a:rPr lang="en-US" altLang="zh-CN" dirty="0"/>
              <a:t>2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/>
            <a:r>
              <a:rPr lang="zh-CN" altLang="en-US" dirty="0"/>
              <a:t>长整型（</a:t>
            </a:r>
            <a:r>
              <a:rPr lang="en-US" altLang="zh-CN" dirty="0"/>
              <a:t>long </a:t>
            </a:r>
            <a:r>
              <a:rPr lang="en-US" altLang="zh-CN" dirty="0" err="1"/>
              <a:t>int</a:t>
            </a:r>
            <a:r>
              <a:rPr lang="zh-CN" altLang="en-US" dirty="0"/>
              <a:t>或</a:t>
            </a:r>
            <a:r>
              <a:rPr lang="en-US" altLang="zh-CN" dirty="0"/>
              <a:t>long</a:t>
            </a:r>
            <a:r>
              <a:rPr lang="zh-CN" altLang="en-US" dirty="0"/>
              <a:t>）占</a:t>
            </a:r>
            <a:r>
              <a:rPr lang="en-US" altLang="zh-CN" dirty="0"/>
              <a:t>4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/>
            <a:r>
              <a:rPr lang="zh-CN" altLang="en-US" dirty="0"/>
              <a:t>长长整型（</a:t>
            </a:r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en-US" dirty="0"/>
              <a:t>或</a:t>
            </a:r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zh-CN" altLang="en-US" dirty="0"/>
              <a:t>）占</a:t>
            </a:r>
            <a:r>
              <a:rPr lang="en-US" altLang="zh-CN" dirty="0"/>
              <a:t>8</a:t>
            </a:r>
            <a:r>
              <a:rPr lang="zh-CN" altLang="en-US" dirty="0"/>
              <a:t>个字节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P59</a:t>
            </a:r>
            <a:r>
              <a:rPr lang="zh-CN" altLang="en-US" dirty="0">
                <a:solidFill>
                  <a:srgbClr val="C00000"/>
                </a:solidFill>
              </a:rPr>
              <a:t>程序</a:t>
            </a:r>
            <a:r>
              <a:rPr lang="en-US" altLang="zh-CN" dirty="0">
                <a:solidFill>
                  <a:srgbClr val="C00000"/>
                </a:solidFill>
              </a:rPr>
              <a:t>3.1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整型的修饰符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47864" y="1124744"/>
            <a:ext cx="3816424" cy="486536"/>
          </a:xfrm>
        </p:spPr>
        <p:txBody>
          <a:bodyPr/>
          <a:lstStyle/>
          <a:p>
            <a:r>
              <a:rPr lang="en-US" altLang="zh-CN" dirty="0"/>
              <a:t>signed</a:t>
            </a:r>
            <a:r>
              <a:rPr lang="zh-CN" altLang="en-US" dirty="0"/>
              <a:t>、</a:t>
            </a:r>
            <a:r>
              <a:rPr lang="en-US" altLang="zh-CN" dirty="0"/>
              <a:t>unsigned</a:t>
            </a:r>
            <a:endParaRPr lang="en-US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51520" y="1704424"/>
          <a:ext cx="871296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/>
                <a:gridCol w="648072"/>
                <a:gridCol w="3168352"/>
                <a:gridCol w="2520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类型描述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字长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取值范围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简写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short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-32768~32767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short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short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-32768~32767(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-2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~2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-1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short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short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0~65535(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en-US" altLang="zh-CN" sz="1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short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C00000"/>
                          </a:solidFill>
                        </a:rPr>
                        <a:t>int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-2</a:t>
                      </a:r>
                      <a:r>
                        <a:rPr lang="en-US" altLang="zh-CN" baseline="30000" dirty="0">
                          <a:solidFill>
                            <a:srgbClr val="C00000"/>
                          </a:solidFill>
                        </a:rPr>
                        <a:t>31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~2</a:t>
                      </a:r>
                      <a:r>
                        <a:rPr lang="en-US" altLang="zh-CN" baseline="30000" dirty="0">
                          <a:solidFill>
                            <a:srgbClr val="C00000"/>
                          </a:solidFill>
                        </a:rPr>
                        <a:t>31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-1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C00000"/>
                          </a:solidFill>
                        </a:rPr>
                        <a:t>int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</a:t>
                      </a:r>
                      <a:r>
                        <a:rPr lang="en-US" altLang="zh-CN" baseline="30000" dirty="0"/>
                        <a:t>31</a:t>
                      </a:r>
                      <a:r>
                        <a:rPr lang="en-US" altLang="zh-CN" dirty="0"/>
                        <a:t>~2</a:t>
                      </a:r>
                      <a:r>
                        <a:rPr lang="en-US" altLang="zh-CN" baseline="30000" dirty="0"/>
                        <a:t>31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int</a:t>
                      </a:r>
                      <a:endParaRPr lang="en-US" altLang="zh-CN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0~4294967295(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en-US" altLang="zh-CN" sz="1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-2147483648~2147483647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long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-2147483648~2147483647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long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0~4294967295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long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~2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long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</a:t>
                      </a:r>
                      <a:r>
                        <a:rPr lang="en-US" altLang="zh-CN" baseline="0" dirty="0"/>
                        <a:t> long </a:t>
                      </a:r>
                      <a:r>
                        <a:rPr lang="en-US" altLang="zh-CN" baseline="0" dirty="0" err="1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~2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</a:t>
                      </a:r>
                      <a:r>
                        <a:rPr lang="en-US" altLang="zh-CN" dirty="0" err="1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unsigned</a:t>
                      </a:r>
                      <a:r>
                        <a:rPr lang="en-US" altLang="zh-CN" baseline="0" dirty="0"/>
                        <a:t> long </a:t>
                      </a:r>
                      <a:r>
                        <a:rPr lang="en-US" altLang="zh-CN" baseline="0" dirty="0" err="1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0~2</a:t>
                      </a:r>
                      <a:r>
                        <a:rPr lang="en-US" altLang="zh-CN" baseline="30000" dirty="0"/>
                        <a:t>64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</a:t>
                      </a:r>
                      <a:r>
                        <a:rPr lang="en-US" altLang="zh-CN" baseline="0" dirty="0"/>
                        <a:t> long </a:t>
                      </a:r>
                      <a:r>
                        <a:rPr lang="en-US" altLang="zh-CN" baseline="0" dirty="0" err="1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7" name="矩形 6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表示小数（或整个实数域）</a:t>
            </a:r>
            <a:endParaRPr lang="en-US" altLang="zh-CN" dirty="0"/>
          </a:p>
          <a:p>
            <a:pPr lvl="1"/>
            <a:r>
              <a:rPr lang="en-US" altLang="zh-CN" dirty="0"/>
              <a:t>-1.2</a:t>
            </a:r>
            <a:r>
              <a:rPr lang="zh-CN" altLang="en-US" dirty="0"/>
              <a:t>、</a:t>
            </a:r>
            <a:r>
              <a:rPr lang="en-US" altLang="zh-CN" dirty="0"/>
              <a:t>0.0</a:t>
            </a:r>
            <a:r>
              <a:rPr lang="zh-CN" altLang="en-US" dirty="0"/>
              <a:t>、</a:t>
            </a:r>
            <a:r>
              <a:rPr lang="en-US" altLang="zh-CN" dirty="0"/>
              <a:t>2.5</a:t>
            </a:r>
            <a:endParaRPr lang="en-US" altLang="zh-CN" dirty="0"/>
          </a:p>
          <a:p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zh-CN" altLang="en-US" dirty="0"/>
              <a:t>单精度浮点型</a:t>
            </a:r>
            <a:endParaRPr lang="en-US" altLang="zh-CN" dirty="0"/>
          </a:p>
          <a:p>
            <a:pPr lvl="2"/>
            <a:r>
              <a:rPr lang="zh-CN" altLang="en-US" dirty="0"/>
              <a:t>占</a:t>
            </a:r>
            <a:r>
              <a:rPr lang="en-US" altLang="zh-CN" dirty="0"/>
              <a:t>4</a:t>
            </a:r>
            <a:r>
              <a:rPr lang="zh-CN" altLang="en-US" dirty="0"/>
              <a:t>个字节的存储空间，用关键字</a:t>
            </a:r>
            <a:r>
              <a:rPr lang="en-US" altLang="zh-CN" dirty="0"/>
              <a:t>float</a:t>
            </a:r>
            <a:r>
              <a:rPr lang="zh-CN" altLang="en-US" dirty="0"/>
              <a:t>描述</a:t>
            </a:r>
            <a:endParaRPr lang="en-US" altLang="zh-CN" dirty="0"/>
          </a:p>
          <a:p>
            <a:pPr lvl="1"/>
            <a:r>
              <a:rPr lang="zh-CN" altLang="en-US" dirty="0"/>
              <a:t>双精度浮点型</a:t>
            </a:r>
            <a:endParaRPr lang="en-US" altLang="zh-CN" dirty="0"/>
          </a:p>
          <a:p>
            <a:pPr lvl="2"/>
            <a:r>
              <a:rPr lang="zh-CN" altLang="en-US" dirty="0"/>
              <a:t>占</a:t>
            </a:r>
            <a:r>
              <a:rPr lang="en-US" altLang="zh-CN" dirty="0"/>
              <a:t>8</a:t>
            </a:r>
            <a:r>
              <a:rPr lang="zh-CN" altLang="en-US" dirty="0"/>
              <a:t>个字节的存储空间，用关键字</a:t>
            </a:r>
            <a:r>
              <a:rPr lang="en-US" altLang="zh-CN" dirty="0"/>
              <a:t>double</a:t>
            </a:r>
            <a:r>
              <a:rPr lang="zh-CN" altLang="en-US" dirty="0"/>
              <a:t>描述</a:t>
            </a:r>
            <a:endParaRPr lang="en-US" altLang="zh-CN" dirty="0"/>
          </a:p>
          <a:p>
            <a:pPr lvl="1"/>
            <a:r>
              <a:rPr lang="zh-CN" altLang="en-US" dirty="0"/>
              <a:t>长双精度浮点型</a:t>
            </a:r>
            <a:endParaRPr lang="en-US" altLang="zh-CN" dirty="0"/>
          </a:p>
          <a:p>
            <a:pPr lvl="2"/>
            <a:r>
              <a:rPr lang="zh-CN" altLang="en-US" dirty="0"/>
              <a:t>占</a:t>
            </a:r>
            <a:r>
              <a:rPr lang="en-US" altLang="zh-CN" dirty="0"/>
              <a:t>10</a:t>
            </a:r>
            <a:r>
              <a:rPr lang="zh-CN" altLang="en-US" dirty="0"/>
              <a:t>个字节的存储空间，用关键字</a:t>
            </a:r>
            <a:r>
              <a:rPr lang="en-US" altLang="zh-CN" dirty="0"/>
              <a:t>long double</a:t>
            </a:r>
            <a:r>
              <a:rPr lang="zh-CN" altLang="en-US" dirty="0"/>
              <a:t>描述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P60</a:t>
            </a:r>
            <a:r>
              <a:rPr lang="zh-CN" altLang="en-US" dirty="0">
                <a:solidFill>
                  <a:srgbClr val="C00000"/>
                </a:solidFill>
              </a:rPr>
              <a:t>程序</a:t>
            </a:r>
            <a:r>
              <a:rPr lang="en-US" altLang="zh-CN" dirty="0">
                <a:solidFill>
                  <a:srgbClr val="C00000"/>
                </a:solidFill>
              </a:rPr>
              <a:t>3.2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浮点型及其派生类型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单精度浮点数的表示范围：</a:t>
            </a:r>
            <a:endParaRPr lang="en-US" altLang="zh-CN" dirty="0"/>
          </a:p>
          <a:p>
            <a:pPr lvl="2"/>
            <a:r>
              <a:rPr lang="en-US" altLang="zh-CN" dirty="0"/>
              <a:t>1.00000000000000000000000*2</a:t>
            </a:r>
            <a:r>
              <a:rPr lang="en-US" altLang="zh-CN" baseline="30000" dirty="0"/>
              <a:t>-128 </a:t>
            </a:r>
            <a:r>
              <a:rPr lang="zh-CN" altLang="en-US" dirty="0"/>
              <a:t>≈</a:t>
            </a:r>
            <a:r>
              <a:rPr lang="en-US" altLang="zh-CN" dirty="0"/>
              <a:t> 3.4e-38</a:t>
            </a:r>
            <a:endParaRPr lang="en-US" altLang="zh-CN" dirty="0"/>
          </a:p>
          <a:p>
            <a:pPr lvl="2"/>
            <a:r>
              <a:rPr lang="en-US" altLang="zh-CN" dirty="0"/>
              <a:t>1.11111111111111111111111*2</a:t>
            </a:r>
            <a:r>
              <a:rPr lang="en-US" altLang="zh-CN" baseline="30000" dirty="0"/>
              <a:t>127 </a:t>
            </a:r>
            <a:r>
              <a:rPr lang="zh-CN" altLang="en-US" dirty="0"/>
              <a:t>≈</a:t>
            </a:r>
            <a:r>
              <a:rPr lang="en-US" altLang="zh-CN" dirty="0"/>
              <a:t> 3.4e38</a:t>
            </a:r>
            <a:endParaRPr lang="en-US" altLang="zh-CN" dirty="0"/>
          </a:p>
          <a:p>
            <a:pPr lvl="1"/>
            <a:r>
              <a:rPr lang="zh-CN" altLang="en-US" dirty="0"/>
              <a:t>双精度浮点数的表示范围：</a:t>
            </a:r>
            <a:endParaRPr lang="en-US" altLang="zh-CN" dirty="0"/>
          </a:p>
          <a:p>
            <a:pPr lvl="2"/>
            <a:r>
              <a:rPr lang="zh-CN" altLang="en-US" dirty="0"/>
              <a:t>计算方法类似于单精度</a:t>
            </a:r>
            <a:endParaRPr lang="en-US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59632" y="2492896"/>
          <a:ext cx="73125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391"/>
                <a:gridCol w="614497"/>
                <a:gridCol w="2786096"/>
                <a:gridCol w="194553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类型描述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字长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取值范围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精度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float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-3.4E38~3.4E38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1.0E-38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double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-1.7E308~1.7E308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1.0E-308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double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-1.1E4932~1.1E4932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1.0E-4932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15" name="矩形 14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矩形 20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矩形 21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浮点型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浮点数</a:t>
            </a:r>
            <a:r>
              <a:rPr lang="zh-CN" altLang="en-US" dirty="0">
                <a:solidFill>
                  <a:srgbClr val="FF0000"/>
                </a:solidFill>
              </a:rPr>
              <a:t>无法表示</a:t>
            </a:r>
            <a:r>
              <a:rPr lang="zh-CN" altLang="en-US" dirty="0"/>
              <a:t>全部的实数</a:t>
            </a:r>
            <a:endParaRPr lang="en-US" altLang="zh-CN" dirty="0"/>
          </a:p>
          <a:p>
            <a:pPr lvl="1"/>
            <a:r>
              <a:rPr lang="zh-CN" altLang="en-US" dirty="0"/>
              <a:t>浮点数最接近</a:t>
            </a:r>
            <a:r>
              <a:rPr lang="en-US" altLang="zh-CN" dirty="0"/>
              <a:t>0</a:t>
            </a:r>
            <a:r>
              <a:rPr lang="zh-CN" altLang="en-US" dirty="0"/>
              <a:t>的值</a:t>
            </a:r>
            <a:endParaRPr lang="en-US" altLang="zh-CN" dirty="0"/>
          </a:p>
          <a:p>
            <a:r>
              <a:rPr lang="zh-CN" altLang="en-US" dirty="0"/>
              <a:t>浮点数表示的实数通常是近似值</a:t>
            </a:r>
            <a:endParaRPr lang="en-US" altLang="zh-CN" dirty="0"/>
          </a:p>
          <a:p>
            <a:pPr lvl="1"/>
            <a:r>
              <a:rPr lang="zh-CN" altLang="en-US" dirty="0"/>
              <a:t>位数有限制，无法在有效的范围内表示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/>
              <a:t>表示单个字符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基本字符</a:t>
            </a:r>
            <a:r>
              <a:rPr lang="en-US" altLang="zh-CN" dirty="0"/>
              <a:t>96</a:t>
            </a:r>
            <a:r>
              <a:rPr lang="zh-CN" altLang="en-US" dirty="0"/>
              <a:t>个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控制字符</a:t>
            </a:r>
            <a:r>
              <a:rPr lang="en-US" altLang="zh-CN" dirty="0"/>
              <a:t>33</a:t>
            </a:r>
            <a:r>
              <a:rPr lang="zh-CN" altLang="en-US" dirty="0"/>
              <a:t>个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ASCII</a:t>
            </a:r>
            <a:r>
              <a:rPr lang="zh-CN" altLang="en-US" dirty="0"/>
              <a:t>字符占</a:t>
            </a:r>
            <a:r>
              <a:rPr lang="en-US" altLang="zh-CN" dirty="0"/>
              <a:t>1</a:t>
            </a:r>
            <a:r>
              <a:rPr lang="zh-CN" altLang="en-US" dirty="0"/>
              <a:t>个字节的存储空间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字符型的修饰符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用</a:t>
            </a:r>
            <a:r>
              <a:rPr lang="en-US" altLang="zh-CN" dirty="0"/>
              <a:t>signed </a:t>
            </a:r>
            <a:r>
              <a:rPr lang="zh-CN" altLang="en-US" dirty="0"/>
              <a:t>和</a:t>
            </a:r>
            <a:r>
              <a:rPr lang="en-US" altLang="zh-CN" dirty="0"/>
              <a:t>unsigned</a:t>
            </a:r>
            <a:r>
              <a:rPr lang="zh-CN" altLang="en-US" dirty="0"/>
              <a:t>描述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字符型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59632" y="4681944"/>
          <a:ext cx="69127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025"/>
                <a:gridCol w="976805"/>
                <a:gridCol w="1803331"/>
                <a:gridCol w="195360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类型描述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字长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取值范围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简写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char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-128~127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char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char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-128~127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char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char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0~255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char</a:t>
                      </a:r>
                      <a:endParaRPr lang="zh-CN" altLang="en-US" dirty="0"/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13" name="矩形 12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ASCII</a:t>
            </a:r>
            <a:r>
              <a:rPr lang="zh-CN" altLang="en-US" dirty="0"/>
              <a:t>字符型与整型的关系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988840"/>
            <a:ext cx="7992888" cy="4439986"/>
          </a:xfrm>
        </p:spPr>
        <p:txBody>
          <a:bodyPr/>
          <a:lstStyle/>
          <a:p>
            <a:r>
              <a:rPr lang="zh-CN" altLang="en-US" dirty="0"/>
              <a:t>字符型数据与在其表示范围内的整数等价</a:t>
            </a:r>
            <a:endParaRPr lang="en-US" altLang="zh-CN" dirty="0"/>
          </a:p>
          <a:p>
            <a:pPr lvl="1"/>
            <a:r>
              <a:rPr lang="zh-CN" altLang="en-US" dirty="0"/>
              <a:t>将字符型数据设置为整数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97;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dirty="0"/>
              <a:t>将整型数据设置字符型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'a';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dirty="0"/>
              <a:t>将字符型数据强制转换为整数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'a';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dirty="0"/>
              <a:t>将整数强制转换为字符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97;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</a:t>
            </a:r>
            <a:r>
              <a:rPr lang="zh-CN" altLang="en-US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风格的数据类型强制转换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4" name="矩形 1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矩形 2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Unicode</a:t>
            </a:r>
            <a:r>
              <a:rPr lang="zh-CN" altLang="en-US" dirty="0"/>
              <a:t>字符型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13"/>
            <a:ext cx="8507288" cy="4500562"/>
          </a:xfrm>
        </p:spPr>
        <p:txBody>
          <a:bodyPr/>
          <a:lstStyle/>
          <a:p>
            <a:r>
              <a:rPr lang="en-US" altLang="zh-CN" dirty="0" err="1"/>
              <a:t>wchar_t</a:t>
            </a:r>
            <a:endParaRPr lang="en-US" altLang="zh-CN" dirty="0"/>
          </a:p>
          <a:p>
            <a:pPr lvl="1"/>
            <a:r>
              <a:rPr lang="zh-CN" altLang="en-US" dirty="0"/>
              <a:t>宽字符型</a:t>
            </a:r>
            <a:endParaRPr lang="en-US" altLang="zh-CN" dirty="0"/>
          </a:p>
          <a:p>
            <a:pPr lvl="1"/>
            <a:r>
              <a:rPr lang="zh-CN" altLang="en-US" dirty="0"/>
              <a:t>可以存储实现方式支持的最大扩展字符集中的所有成员</a:t>
            </a:r>
            <a:endParaRPr lang="en-US" altLang="zh-CN" dirty="0"/>
          </a:p>
          <a:p>
            <a:pPr lvl="1"/>
            <a:r>
              <a:rPr lang="zh-CN" altLang="en-US" dirty="0"/>
              <a:t>为字符型（</a:t>
            </a:r>
            <a:r>
              <a:rPr lang="en-US" altLang="zh-CN" dirty="0"/>
              <a:t>char</a:t>
            </a:r>
            <a:r>
              <a:rPr lang="zh-CN" altLang="en-US" dirty="0"/>
              <a:t>）字面值常量加前缀</a:t>
            </a:r>
            <a:r>
              <a:rPr lang="en-US" altLang="zh-CN" dirty="0"/>
              <a:t>L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 err="1"/>
              <a:t>wcin</a:t>
            </a:r>
            <a:r>
              <a:rPr lang="zh-CN" altLang="en-US" dirty="0"/>
              <a:t>和</a:t>
            </a:r>
            <a:r>
              <a:rPr lang="en-US" altLang="zh-CN" dirty="0" err="1"/>
              <a:t>wcout</a:t>
            </a:r>
            <a:r>
              <a:rPr lang="zh-CN" altLang="en-US" dirty="0"/>
              <a:t>输入和输出</a:t>
            </a:r>
            <a:endParaRPr lang="en-US" altLang="zh-CN" dirty="0"/>
          </a:p>
          <a:p>
            <a:r>
              <a:rPr lang="en-US" altLang="zh-CN" dirty="0"/>
              <a:t>char16_t</a:t>
            </a:r>
            <a:endParaRPr lang="en-US" altLang="zh-CN" dirty="0"/>
          </a:p>
          <a:p>
            <a:pPr lvl="1"/>
            <a:r>
              <a:rPr lang="zh-CN" altLang="en-US" dirty="0"/>
              <a:t>为字符型（</a:t>
            </a:r>
            <a:r>
              <a:rPr lang="en-US" altLang="zh-CN" dirty="0"/>
              <a:t>char</a:t>
            </a:r>
            <a:r>
              <a:rPr lang="zh-CN" altLang="en-US" dirty="0"/>
              <a:t>）字面值常量加前缀</a:t>
            </a:r>
            <a:r>
              <a:rPr lang="en-US" altLang="zh-CN" dirty="0"/>
              <a:t>u</a:t>
            </a:r>
            <a:endParaRPr lang="en-US" altLang="zh-CN" dirty="0"/>
          </a:p>
          <a:p>
            <a:r>
              <a:rPr lang="en-US" altLang="zh-CN" dirty="0"/>
              <a:t>char32_t</a:t>
            </a:r>
            <a:endParaRPr lang="en-US" altLang="zh-CN" dirty="0"/>
          </a:p>
          <a:p>
            <a:pPr lvl="1"/>
            <a:r>
              <a:rPr lang="zh-CN" altLang="en-US" dirty="0"/>
              <a:t>为字符型（</a:t>
            </a:r>
            <a:r>
              <a:rPr lang="en-US" altLang="zh-CN" dirty="0"/>
              <a:t>char</a:t>
            </a:r>
            <a:r>
              <a:rPr lang="zh-CN" altLang="en-US" dirty="0"/>
              <a:t>）字面值常量加前缀</a:t>
            </a:r>
            <a:r>
              <a:rPr lang="en-US" altLang="zh-CN" dirty="0"/>
              <a:t>U</a:t>
            </a:r>
            <a:endParaRPr lang="zh-CN" altLang="en-US" dirty="0"/>
          </a:p>
        </p:txBody>
      </p:sp>
      <p:sp>
        <p:nvSpPr>
          <p:cNvPr id="12" name="矩形 11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布尔型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用关键字</a:t>
            </a:r>
            <a:r>
              <a:rPr lang="en-US" altLang="zh-CN" dirty="0" err="1"/>
              <a:t>bool</a:t>
            </a:r>
            <a:r>
              <a:rPr lang="zh-CN" altLang="en-US" dirty="0"/>
              <a:t>描述，布尔型只包含两个值</a:t>
            </a:r>
            <a:endParaRPr lang="en-US" altLang="zh-CN" dirty="0"/>
          </a:p>
          <a:p>
            <a:pPr lvl="1"/>
            <a:r>
              <a:rPr lang="zh-CN" altLang="en-US" dirty="0"/>
              <a:t>真值：</a:t>
            </a:r>
            <a:r>
              <a:rPr lang="en-US" altLang="zh-CN" dirty="0"/>
              <a:t>true</a:t>
            </a:r>
            <a:r>
              <a:rPr lang="zh-CN" altLang="en-US" dirty="0"/>
              <a:t>，表示逻辑真</a:t>
            </a:r>
            <a:endParaRPr lang="en-US" altLang="zh-CN" dirty="0"/>
          </a:p>
          <a:p>
            <a:pPr lvl="1"/>
            <a:r>
              <a:rPr lang="zh-CN" altLang="en-US" dirty="0"/>
              <a:t>假值：</a:t>
            </a:r>
            <a:r>
              <a:rPr lang="en-US" altLang="zh-CN" dirty="0"/>
              <a:t>false</a:t>
            </a:r>
            <a:r>
              <a:rPr lang="zh-CN" altLang="en-US" dirty="0"/>
              <a:t>，表示逻辑假</a:t>
            </a:r>
            <a:endParaRPr lang="en-US" altLang="zh-CN" dirty="0"/>
          </a:p>
          <a:p>
            <a:r>
              <a:rPr lang="zh-CN" altLang="en-US" dirty="0"/>
              <a:t>含义</a:t>
            </a:r>
            <a:endParaRPr lang="en-US" altLang="zh-CN" dirty="0"/>
          </a:p>
          <a:p>
            <a:pPr lvl="1"/>
            <a:r>
              <a:rPr lang="zh-CN" altLang="en-US" dirty="0"/>
              <a:t>逻辑表达式或关系表达式的值</a:t>
            </a:r>
            <a:endParaRPr lang="en-US" altLang="zh-CN" dirty="0"/>
          </a:p>
          <a:p>
            <a:pPr lvl="1"/>
            <a:r>
              <a:rPr lang="zh-CN" altLang="en-US" dirty="0"/>
              <a:t>参加逻辑运算</a:t>
            </a:r>
            <a:endParaRPr lang="en-US" altLang="zh-CN" dirty="0"/>
          </a:p>
        </p:txBody>
      </p:sp>
      <p:sp>
        <p:nvSpPr>
          <p:cNvPr id="14" name="矩形 1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矩形 2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布尔型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布尔型和整型的关系</a:t>
            </a:r>
            <a:endParaRPr lang="en-US" altLang="zh-CN" dirty="0"/>
          </a:p>
          <a:p>
            <a:pPr lvl="1"/>
            <a:r>
              <a:rPr lang="en-US" altLang="zh-CN" dirty="0"/>
              <a:t>true</a:t>
            </a:r>
            <a:r>
              <a:rPr lang="zh-CN" altLang="en-US" dirty="0"/>
              <a:t>与非</a:t>
            </a:r>
            <a:r>
              <a:rPr lang="en-US" altLang="zh-CN" dirty="0"/>
              <a:t>0</a:t>
            </a:r>
            <a:r>
              <a:rPr lang="zh-CN" altLang="en-US" dirty="0"/>
              <a:t>整数等价</a:t>
            </a:r>
            <a:endParaRPr lang="en-US" altLang="zh-CN" dirty="0"/>
          </a:p>
          <a:p>
            <a:pPr lvl="2"/>
            <a:r>
              <a:rPr lang="zh-CN" altLang="en-US" dirty="0"/>
              <a:t>如果整型数据的值为</a:t>
            </a:r>
            <a:r>
              <a:rPr lang="en-US" altLang="zh-CN" dirty="0"/>
              <a:t>-1</a:t>
            </a:r>
            <a:r>
              <a:rPr lang="zh-CN" altLang="en-US" dirty="0"/>
              <a:t>，则其布尔值为</a:t>
            </a:r>
            <a:r>
              <a:rPr lang="en-US" altLang="zh-CN" dirty="0"/>
              <a:t>true</a:t>
            </a:r>
            <a:endParaRPr lang="en-US" altLang="zh-CN" dirty="0"/>
          </a:p>
          <a:p>
            <a:pPr lvl="2"/>
            <a:r>
              <a:rPr lang="zh-CN" altLang="en-US" dirty="0"/>
              <a:t>如果某个布尔型数据的值为</a:t>
            </a:r>
            <a:r>
              <a:rPr lang="en-US" altLang="zh-CN" dirty="0"/>
              <a:t>true</a:t>
            </a:r>
            <a:r>
              <a:rPr lang="zh-CN" altLang="en-US" dirty="0"/>
              <a:t>，则其整数值为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en-US" altLang="zh-CN" dirty="0"/>
              <a:t>false</a:t>
            </a:r>
            <a:r>
              <a:rPr lang="zh-CN" altLang="en-US" dirty="0"/>
              <a:t>与整数</a:t>
            </a:r>
            <a:r>
              <a:rPr lang="en-US" altLang="zh-CN" dirty="0"/>
              <a:t>0</a:t>
            </a:r>
            <a:r>
              <a:rPr lang="zh-CN" altLang="en-US" dirty="0"/>
              <a:t>等价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35460" y="4186240"/>
            <a:ext cx="2594000" cy="885825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5460" y="5257803"/>
            <a:ext cx="1686099" cy="4397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4186240"/>
            <a:ext cx="2594000" cy="885825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6" y="5257803"/>
            <a:ext cx="1686100" cy="4397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22" name="矩形 21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矩形 2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矩形 23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矩形 24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矩形 2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矩形 2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矩形 2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矩形 2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布尔型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无值型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用关键字</a:t>
            </a:r>
            <a:r>
              <a:rPr lang="en-US" altLang="zh-CN" dirty="0"/>
              <a:t>void</a:t>
            </a:r>
            <a:r>
              <a:rPr lang="zh-CN" altLang="en-US" dirty="0"/>
              <a:t>描述无值型</a:t>
            </a:r>
            <a:endParaRPr lang="en-US" altLang="zh-CN" dirty="0"/>
          </a:p>
          <a:p>
            <a:pPr lvl="1"/>
            <a:r>
              <a:rPr lang="zh-CN" altLang="en-US" dirty="0"/>
              <a:t>无值型的值域为空集</a:t>
            </a:r>
            <a:endParaRPr lang="en-US" altLang="zh-CN" dirty="0"/>
          </a:p>
          <a:p>
            <a:r>
              <a:rPr lang="zh-CN" altLang="en-US" dirty="0"/>
              <a:t>主要应用</a:t>
            </a:r>
            <a:endParaRPr lang="en-US" altLang="zh-CN" dirty="0"/>
          </a:p>
          <a:p>
            <a:pPr lvl="1"/>
            <a:r>
              <a:rPr lang="zh-CN" altLang="en-US" dirty="0"/>
              <a:t>声明函数的返回值</a:t>
            </a:r>
            <a:endParaRPr lang="en-US" altLang="zh-CN" dirty="0"/>
          </a:p>
          <a:p>
            <a:pPr lvl="1"/>
            <a:r>
              <a:rPr lang="zh-CN" altLang="en-US" dirty="0"/>
              <a:t>声明函数的参数</a:t>
            </a:r>
            <a:endParaRPr lang="en-US" altLang="zh-CN" dirty="0"/>
          </a:p>
          <a:p>
            <a:pPr lvl="1"/>
            <a:r>
              <a:rPr lang="zh-CN" altLang="en-US" dirty="0"/>
              <a:t>声明指针</a:t>
            </a:r>
            <a:endParaRPr lang="en-US" altLang="zh-CN" dirty="0"/>
          </a:p>
          <a:p>
            <a:pPr lvl="2"/>
            <a:r>
              <a:rPr lang="en-US" altLang="zh-CN" dirty="0"/>
              <a:t>void *&lt;</a:t>
            </a:r>
            <a:r>
              <a:rPr lang="zh-CN" altLang="en-US" dirty="0"/>
              <a:t>指针变量名</a:t>
            </a:r>
            <a:r>
              <a:rPr lang="en-US" altLang="zh-CN" dirty="0"/>
              <a:t>&gt;</a:t>
            </a:r>
            <a:endParaRPr lang="en-US" altLang="zh-CN" dirty="0"/>
          </a:p>
          <a:p>
            <a:pPr lvl="3"/>
            <a:r>
              <a:rPr lang="zh-CN" altLang="en-US" dirty="0"/>
              <a:t>该指针可以指向任何数据类型</a:t>
            </a:r>
            <a:endParaRPr lang="en-US" altLang="zh-CN" dirty="0"/>
          </a:p>
          <a:p>
            <a:r>
              <a:rPr lang="zh-CN" altLang="en-US" dirty="0"/>
              <a:t>不能用</a:t>
            </a:r>
            <a:r>
              <a:rPr lang="en-US" altLang="zh-CN" dirty="0"/>
              <a:t>void</a:t>
            </a:r>
            <a:r>
              <a:rPr lang="zh-CN" altLang="en-US" dirty="0"/>
              <a:t>类型声明变量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54205" y="3071813"/>
            <a:ext cx="1153715" cy="33655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4205" y="3571875"/>
            <a:ext cx="1564481" cy="33655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10" name="矩形 9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无值型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2276872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40768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555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576760" y="239919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3259021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3367054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3212976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矩形 4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复合类型</a:t>
            </a:r>
            <a:endParaRPr lang="zh-CN" altLang="en-US" dirty="0"/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gray">
          <a:xfrm rot="19304685">
            <a:off x="5102819" y="3037437"/>
            <a:ext cx="87585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gray">
          <a:xfrm rot="2017609">
            <a:off x="5072682" y="4592633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gray">
          <a:xfrm rot="13524422">
            <a:off x="3088034" y="3081986"/>
            <a:ext cx="805946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 rot="8397539">
            <a:off x="3174714" y="4588098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gray">
          <a:xfrm>
            <a:off x="5278557" y="3756819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gray">
          <a:xfrm rot="10800000">
            <a:off x="2868732" y="3750469"/>
            <a:ext cx="863600" cy="288925"/>
          </a:xfrm>
          <a:prstGeom prst="rightArrow">
            <a:avLst>
              <a:gd name="adj1" fmla="val 35167"/>
              <a:gd name="adj2" fmla="val 121041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gray">
          <a:xfrm>
            <a:off x="2614732" y="1988344"/>
            <a:ext cx="3743325" cy="3744912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1" name="Group 10"/>
          <p:cNvGrpSpPr/>
          <p:nvPr/>
        </p:nvGrpSpPr>
        <p:grpSpPr bwMode="auto">
          <a:xfrm>
            <a:off x="2767398" y="2559945"/>
            <a:ext cx="360363" cy="360363"/>
            <a:chOff x="1973" y="1706"/>
            <a:chExt cx="227" cy="227"/>
          </a:xfrm>
        </p:grpSpPr>
        <p:sp>
          <p:nvSpPr>
            <p:cNvPr id="12" name="Oval 11"/>
            <p:cNvSpPr>
              <a:spLocks noChangeArrowheads="1"/>
            </p:cNvSpPr>
            <p:nvPr/>
          </p:nvSpPr>
          <p:spPr bwMode="gray">
            <a:xfrm>
              <a:off x="1973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gray">
            <a:xfrm>
              <a:off x="1983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13"/>
          <p:cNvGrpSpPr/>
          <p:nvPr/>
        </p:nvGrpSpPr>
        <p:grpSpPr bwMode="auto">
          <a:xfrm>
            <a:off x="2406770" y="3702844"/>
            <a:ext cx="360362" cy="360362"/>
            <a:chOff x="1565" y="2659"/>
            <a:chExt cx="227" cy="227"/>
          </a:xfrm>
        </p:grpSpPr>
        <p:sp>
          <p:nvSpPr>
            <p:cNvPr id="15" name="Oval 14"/>
            <p:cNvSpPr>
              <a:spLocks noChangeArrowheads="1"/>
            </p:cNvSpPr>
            <p:nvPr/>
          </p:nvSpPr>
          <p:spPr bwMode="gray">
            <a:xfrm>
              <a:off x="1565" y="2659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gray">
            <a:xfrm>
              <a:off x="1575" y="2678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16"/>
          <p:cNvGrpSpPr/>
          <p:nvPr/>
        </p:nvGrpSpPr>
        <p:grpSpPr bwMode="auto">
          <a:xfrm>
            <a:off x="2877177" y="4909343"/>
            <a:ext cx="360362" cy="360362"/>
            <a:chOff x="2109" y="3612"/>
            <a:chExt cx="227" cy="227"/>
          </a:xfrm>
        </p:grpSpPr>
        <p:sp>
          <p:nvSpPr>
            <p:cNvPr id="18" name="Oval 17"/>
            <p:cNvSpPr>
              <a:spLocks noChangeArrowheads="1"/>
            </p:cNvSpPr>
            <p:nvPr/>
          </p:nvSpPr>
          <p:spPr bwMode="gray">
            <a:xfrm>
              <a:off x="2109" y="3612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gray">
            <a:xfrm>
              <a:off x="2119" y="3631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19"/>
          <p:cNvGrpSpPr/>
          <p:nvPr/>
        </p:nvGrpSpPr>
        <p:grpSpPr bwMode="auto">
          <a:xfrm>
            <a:off x="5865138" y="2580482"/>
            <a:ext cx="360362" cy="360362"/>
            <a:chOff x="3470" y="1706"/>
            <a:chExt cx="227" cy="227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22"/>
          <p:cNvGrpSpPr/>
          <p:nvPr/>
        </p:nvGrpSpPr>
        <p:grpSpPr bwMode="auto">
          <a:xfrm>
            <a:off x="6150095" y="3702844"/>
            <a:ext cx="360362" cy="360362"/>
            <a:chOff x="3923" y="2659"/>
            <a:chExt cx="227" cy="227"/>
          </a:xfrm>
        </p:grpSpPr>
        <p:sp>
          <p:nvSpPr>
            <p:cNvPr id="24" name="Oval 23"/>
            <p:cNvSpPr>
              <a:spLocks noChangeArrowheads="1"/>
            </p:cNvSpPr>
            <p:nvPr/>
          </p:nvSpPr>
          <p:spPr bwMode="gray">
            <a:xfrm>
              <a:off x="3923" y="2659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gray">
            <a:xfrm>
              <a:off x="3933" y="2678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25"/>
          <p:cNvGrpSpPr/>
          <p:nvPr/>
        </p:nvGrpSpPr>
        <p:grpSpPr bwMode="auto">
          <a:xfrm>
            <a:off x="5789732" y="4869656"/>
            <a:ext cx="360363" cy="360362"/>
            <a:chOff x="3515" y="3521"/>
            <a:chExt cx="227" cy="227"/>
          </a:xfrm>
        </p:grpSpPr>
        <p:sp>
          <p:nvSpPr>
            <p:cNvPr id="27" name="Oval 26"/>
            <p:cNvSpPr>
              <a:spLocks noChangeArrowheads="1"/>
            </p:cNvSpPr>
            <p:nvPr/>
          </p:nvSpPr>
          <p:spPr bwMode="gray">
            <a:xfrm>
              <a:off x="3515" y="3521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gray">
            <a:xfrm>
              <a:off x="3525" y="3540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" name="Oval 28"/>
          <p:cNvSpPr>
            <a:spLocks noChangeArrowheads="1"/>
          </p:cNvSpPr>
          <p:nvPr/>
        </p:nvSpPr>
        <p:spPr bwMode="gray">
          <a:xfrm>
            <a:off x="3546595" y="2940844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gray">
          <a:xfrm>
            <a:off x="3540245" y="2924969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alpha val="32001"/>
                </a:schemeClr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" name="Oval 30"/>
          <p:cNvSpPr>
            <a:spLocks noChangeArrowheads="1"/>
          </p:cNvSpPr>
          <p:nvPr/>
        </p:nvSpPr>
        <p:spPr bwMode="gray">
          <a:xfrm>
            <a:off x="3673595" y="3067844"/>
            <a:ext cx="1690687" cy="1690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54118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gray">
          <a:xfrm>
            <a:off x="3656132" y="3040856"/>
            <a:ext cx="1690688" cy="1690688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gray">
          <a:xfrm>
            <a:off x="3757732" y="3151981"/>
            <a:ext cx="1522413" cy="1522413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3779957" y="3171031"/>
            <a:ext cx="1471613" cy="1473200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46275"/>
                  <a:invGamma/>
                </a:srgbClr>
              </a:gs>
              <a:gs pos="100000">
                <a:srgbClr val="D6E1E2"/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3797420" y="3180556"/>
            <a:ext cx="1438275" cy="1435100"/>
          </a:xfrm>
          <a:prstGeom prst="ellipse">
            <a:avLst/>
          </a:prstGeom>
          <a:gradFill rotWithShape="1">
            <a:gsLst>
              <a:gs pos="0">
                <a:srgbClr val="D6E1E2">
                  <a:alpha val="0"/>
                </a:srgbClr>
              </a:gs>
              <a:gs pos="100000">
                <a:srgbClr val="D6E1E2">
                  <a:gamma/>
                  <a:tint val="34902"/>
                  <a:invGamma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6" name="Oval 35"/>
          <p:cNvSpPr>
            <a:spLocks noChangeArrowheads="1"/>
          </p:cNvSpPr>
          <p:nvPr/>
        </p:nvSpPr>
        <p:spPr bwMode="auto">
          <a:xfrm>
            <a:off x="3813295" y="3194844"/>
            <a:ext cx="1366837" cy="1341437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79216"/>
                  <a:invGamma/>
                </a:srgbClr>
              </a:gs>
              <a:gs pos="100000">
                <a:srgbClr val="D6E1E2">
                  <a:alpha val="48000"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3894257" y="3231356"/>
            <a:ext cx="1214438" cy="1090613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tint val="0"/>
                  <a:invGamma/>
                </a:srgbClr>
              </a:gs>
              <a:gs pos="100000">
                <a:srgbClr val="D6E1E2">
                  <a:alpha val="38000"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4050070" y="3417877"/>
            <a:ext cx="902811" cy="95410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复合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0" hangingPunct="0"/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类型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4192989" y="1412776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ea typeface="宋体" panose="02010600030101010101" pitchFamily="2" charset="-122"/>
              </a:rPr>
              <a:t>指针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2134453" y="2249568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000" b="1" dirty="0">
                <a:ea typeface="宋体" panose="02010600030101010101" pitchFamily="2" charset="-122"/>
              </a:rPr>
              <a:t>函数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6277888" y="2272090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ea typeface="宋体" panose="02010600030101010101" pitchFamily="2" charset="-122"/>
              </a:rPr>
              <a:t>引用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1707555" y="3726656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000" b="1" dirty="0">
                <a:ea typeface="宋体" panose="02010600030101010101" pitchFamily="2" charset="-122"/>
              </a:rPr>
              <a:t>数组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2214622" y="5230018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枚举</a:t>
            </a:r>
            <a:endParaRPr lang="en-US" altLang="zh-CN" sz="20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1" name="AutoShape 5"/>
          <p:cNvSpPr>
            <a:spLocks noChangeArrowheads="1"/>
          </p:cNvSpPr>
          <p:nvPr/>
        </p:nvSpPr>
        <p:spPr bwMode="gray">
          <a:xfrm rot="16200000">
            <a:off x="4098502" y="2518844"/>
            <a:ext cx="805946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" name="Group 19"/>
          <p:cNvGrpSpPr/>
          <p:nvPr/>
        </p:nvGrpSpPr>
        <p:grpSpPr bwMode="auto">
          <a:xfrm>
            <a:off x="4316532" y="1772816"/>
            <a:ext cx="360362" cy="360362"/>
            <a:chOff x="3470" y="1706"/>
            <a:chExt cx="227" cy="227"/>
          </a:xfrm>
        </p:grpSpPr>
        <p:sp>
          <p:nvSpPr>
            <p:cNvPr id="53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矩形 54"/>
          <p:cNvSpPr/>
          <p:nvPr/>
        </p:nvSpPr>
        <p:spPr>
          <a:xfrm>
            <a:off x="6533595" y="3717032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宋体" panose="02010600030101010101" pitchFamily="2" charset="-122"/>
              </a:rPr>
              <a:t>结构</a:t>
            </a:r>
            <a:endParaRPr lang="zh-CN" altLang="en-US" sz="2000" b="1" dirty="0">
              <a:ea typeface="宋体" panose="02010600030101010101" pitchFamily="2" charset="-122"/>
            </a:endParaRPr>
          </a:p>
        </p:txBody>
      </p:sp>
      <p:sp>
        <p:nvSpPr>
          <p:cNvPr id="56" name="AutoShape 5"/>
          <p:cNvSpPr>
            <a:spLocks noChangeArrowheads="1"/>
          </p:cNvSpPr>
          <p:nvPr/>
        </p:nvSpPr>
        <p:spPr bwMode="gray">
          <a:xfrm rot="5400000">
            <a:off x="4113583" y="5085556"/>
            <a:ext cx="805946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19"/>
          <p:cNvGrpSpPr/>
          <p:nvPr/>
        </p:nvGrpSpPr>
        <p:grpSpPr bwMode="auto">
          <a:xfrm>
            <a:off x="4338876" y="5632992"/>
            <a:ext cx="360362" cy="360362"/>
            <a:chOff x="3470" y="1706"/>
            <a:chExt cx="227" cy="227"/>
          </a:xfrm>
        </p:grpSpPr>
        <p:sp>
          <p:nvSpPr>
            <p:cNvPr id="58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" name="矩形 59"/>
          <p:cNvSpPr/>
          <p:nvPr/>
        </p:nvSpPr>
        <p:spPr>
          <a:xfrm>
            <a:off x="6184980" y="5096385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宋体" panose="02010600030101010101" pitchFamily="2" charset="-122"/>
              </a:rPr>
              <a:t>联合</a:t>
            </a:r>
            <a:endParaRPr lang="zh-CN" altLang="en-US" sz="2000" b="1" dirty="0">
              <a:ea typeface="宋体" panose="02010600030101010101" pitchFamily="2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714604" y="602240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类（标准库类型）</a:t>
            </a:r>
            <a:endParaRPr lang="zh-CN" altLang="en-US" sz="20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62" name="矩形 61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矩形 6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矩形 63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5" name="矩形 64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6" name="矩形 6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矩形 6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8" name="矩形 6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矩形 6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44824"/>
            <a:ext cx="8064896" cy="4581872"/>
          </a:xfrm>
        </p:spPr>
        <p:txBody>
          <a:bodyPr/>
          <a:lstStyle/>
          <a:p>
            <a:r>
              <a:rPr lang="zh-CN" altLang="en-US" dirty="0"/>
              <a:t>用关键字</a:t>
            </a:r>
            <a:r>
              <a:rPr lang="en-US" altLang="zh-CN" dirty="0" err="1"/>
              <a:t>enum</a:t>
            </a:r>
            <a:r>
              <a:rPr lang="zh-CN" altLang="en-US" dirty="0"/>
              <a:t>描述枚举类型</a:t>
            </a:r>
            <a:endParaRPr lang="en-US" altLang="zh-CN" dirty="0"/>
          </a:p>
          <a:p>
            <a:r>
              <a:rPr lang="zh-CN" altLang="en-US" dirty="0"/>
              <a:t>将数据的取值（枚举值）列举出来，不能超出此范围取值</a:t>
            </a:r>
            <a:endParaRPr lang="en-US" altLang="zh-CN" dirty="0"/>
          </a:p>
          <a:p>
            <a:r>
              <a:rPr lang="zh-CN" altLang="en-US" dirty="0"/>
              <a:t>定义枚举类型</a:t>
            </a:r>
            <a:endParaRPr lang="en-US" altLang="zh-CN" dirty="0"/>
          </a:p>
          <a:p>
            <a:pPr lvl="1"/>
            <a:r>
              <a:rPr lang="en-US" altLang="zh-CN" dirty="0" err="1"/>
              <a:t>enum</a:t>
            </a:r>
            <a:r>
              <a:rPr lang="en-US" altLang="zh-CN" dirty="0"/>
              <a:t>&lt;</a:t>
            </a:r>
            <a:r>
              <a:rPr lang="zh-CN" altLang="en-US" dirty="0">
                <a:solidFill>
                  <a:srgbClr val="C00000"/>
                </a:solidFill>
              </a:rPr>
              <a:t>枚举类型名</a:t>
            </a:r>
            <a:r>
              <a:rPr lang="en-US" altLang="zh-CN" dirty="0"/>
              <a:t>&gt;{&lt;</a:t>
            </a:r>
            <a:r>
              <a:rPr lang="zh-CN" altLang="en-US" dirty="0">
                <a:solidFill>
                  <a:srgbClr val="C00000"/>
                </a:solidFill>
              </a:rPr>
              <a:t>枚举值表</a:t>
            </a:r>
            <a:r>
              <a:rPr lang="en-US" altLang="zh-CN" dirty="0"/>
              <a:t>&gt;}[&lt;</a:t>
            </a:r>
            <a:r>
              <a:rPr lang="zh-CN" altLang="en-US" dirty="0">
                <a:solidFill>
                  <a:srgbClr val="C00000"/>
                </a:solidFill>
              </a:rPr>
              <a:t>枚举变量表</a:t>
            </a:r>
            <a:r>
              <a:rPr lang="en-US" altLang="zh-CN" dirty="0"/>
              <a:t>&gt;]</a:t>
            </a:r>
            <a:endParaRPr lang="en-US" altLang="zh-CN" dirty="0"/>
          </a:p>
          <a:p>
            <a:pPr lvl="2"/>
            <a:r>
              <a:rPr lang="zh-CN" altLang="en-US" dirty="0"/>
              <a:t>枚举类型名：标识符</a:t>
            </a:r>
            <a:endParaRPr lang="en-US" altLang="zh-CN" dirty="0"/>
          </a:p>
          <a:p>
            <a:pPr lvl="2"/>
            <a:r>
              <a:rPr lang="zh-CN" altLang="en-US" dirty="0"/>
              <a:t>枚举值表：枚举类型数据的取值列表</a:t>
            </a:r>
            <a:endParaRPr lang="en-US" altLang="zh-CN" dirty="0"/>
          </a:p>
          <a:p>
            <a:pPr lvl="3"/>
            <a:r>
              <a:rPr lang="zh-CN" altLang="en-US" dirty="0"/>
              <a:t>值名（是一个标识符）</a:t>
            </a:r>
            <a:endParaRPr lang="en-US" altLang="zh-CN" dirty="0"/>
          </a:p>
          <a:p>
            <a:pPr lvl="3"/>
            <a:r>
              <a:rPr lang="en-US" altLang="zh-CN" dirty="0"/>
              <a:t>&lt;</a:t>
            </a:r>
            <a:r>
              <a:rPr lang="zh-CN" altLang="en-US" dirty="0"/>
              <a:t>值名</a:t>
            </a:r>
            <a:r>
              <a:rPr lang="en-US" altLang="zh-CN" dirty="0"/>
              <a:t>&gt; = &lt;</a:t>
            </a:r>
            <a:r>
              <a:rPr lang="zh-CN" altLang="en-US" dirty="0"/>
              <a:t>整型常量</a:t>
            </a:r>
            <a:r>
              <a:rPr lang="en-US" altLang="zh-CN" dirty="0"/>
              <a:t>&gt;</a:t>
            </a:r>
            <a:endParaRPr lang="en-US" altLang="zh-CN" dirty="0"/>
          </a:p>
          <a:p>
            <a:pPr lvl="2"/>
            <a:r>
              <a:rPr lang="zh-CN" altLang="en-US" dirty="0"/>
              <a:t>枚举变量表：声明为此类枚举类型的变量</a:t>
            </a:r>
            <a:endParaRPr lang="en-US" altLang="zh-CN" dirty="0"/>
          </a:p>
          <a:p>
            <a:pPr lvl="3"/>
            <a:r>
              <a:rPr lang="en-US" altLang="zh-CN" dirty="0" err="1"/>
              <a:t>enum</a:t>
            </a:r>
            <a:r>
              <a:rPr lang="en-US" altLang="zh-CN" dirty="0"/>
              <a:t> &lt;</a:t>
            </a:r>
            <a:r>
              <a:rPr lang="zh-CN" altLang="en-US" dirty="0"/>
              <a:t>枚举类型名</a:t>
            </a:r>
            <a:r>
              <a:rPr lang="en-US" altLang="zh-CN" dirty="0"/>
              <a:t>&gt; &lt;</a:t>
            </a:r>
            <a:r>
              <a:rPr lang="zh-CN" altLang="en-US" dirty="0"/>
              <a:t>枚举变量表</a:t>
            </a:r>
            <a:r>
              <a:rPr lang="en-US" altLang="zh-CN" dirty="0"/>
              <a:t>&gt;</a:t>
            </a:r>
            <a:endParaRPr lang="en-US" altLang="zh-CN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13"/>
            <a:ext cx="8579296" cy="4500562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color {RED=1,YELLOW,BLUE}c1=BLUE,c2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dirty="0"/>
              <a:t>枚举类型名：</a:t>
            </a:r>
            <a:r>
              <a:rPr lang="en-US" altLang="zh-CN" dirty="0"/>
              <a:t>color</a:t>
            </a:r>
            <a:endParaRPr lang="en-US" altLang="zh-CN" dirty="0"/>
          </a:p>
          <a:p>
            <a:pPr lvl="2"/>
            <a:r>
              <a:rPr lang="zh-CN" altLang="en-US" dirty="0"/>
              <a:t>枚举值</a:t>
            </a:r>
            <a:endParaRPr lang="en-US" altLang="zh-CN" dirty="0"/>
          </a:p>
          <a:p>
            <a:pPr lvl="3"/>
            <a:r>
              <a:rPr lang="en-US" altLang="zh-CN" dirty="0"/>
              <a:t>RED</a:t>
            </a:r>
            <a:r>
              <a:rPr lang="zh-CN" altLang="en-US" dirty="0"/>
              <a:t>（对应整数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en-US" altLang="zh-CN" dirty="0"/>
              <a:t>YELLOW</a:t>
            </a:r>
            <a:r>
              <a:rPr lang="zh-CN" altLang="en-US" dirty="0"/>
              <a:t>（对应整数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en-US" altLang="zh-CN" dirty="0"/>
              <a:t>BLUE</a:t>
            </a:r>
            <a:r>
              <a:rPr lang="zh-CN" altLang="en-US" dirty="0"/>
              <a:t>（对应整数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枚举类型变量</a:t>
            </a:r>
            <a:endParaRPr lang="en-US" altLang="zh-CN" dirty="0"/>
          </a:p>
          <a:p>
            <a:pPr lvl="3"/>
            <a:r>
              <a:rPr lang="en-US" altLang="zh-CN" dirty="0"/>
              <a:t>c1</a:t>
            </a:r>
            <a:r>
              <a:rPr lang="zh-CN" altLang="en-US" dirty="0"/>
              <a:t>，初始值为</a:t>
            </a:r>
            <a:r>
              <a:rPr lang="en-US" altLang="zh-CN" dirty="0"/>
              <a:t>BLUE</a:t>
            </a:r>
            <a:endParaRPr lang="en-US" altLang="zh-CN" dirty="0"/>
          </a:p>
          <a:p>
            <a:pPr lvl="3"/>
            <a:r>
              <a:rPr lang="en-US" altLang="zh-CN" dirty="0"/>
              <a:t>c2</a:t>
            </a:r>
            <a:r>
              <a:rPr lang="zh-CN" altLang="en-US" dirty="0"/>
              <a:t>，未进行初始化</a:t>
            </a:r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2060848"/>
            <a:ext cx="8424936" cy="4263752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en-US" altLang="zh-CN" dirty="0"/>
          </a:p>
          <a:p>
            <a:pPr lvl="1"/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 a, b = RED, c;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color</a:t>
            </a:r>
            <a:r>
              <a:rPr lang="zh-CN" altLang="en-US" dirty="0"/>
              <a:t>类型定义完毕后，可声明</a:t>
            </a:r>
            <a:r>
              <a:rPr lang="en-US" altLang="zh-CN" dirty="0"/>
              <a:t>color</a:t>
            </a:r>
            <a:r>
              <a:rPr lang="zh-CN" altLang="en-US" dirty="0"/>
              <a:t>类型的变量</a:t>
            </a:r>
            <a:endParaRPr lang="en-US" altLang="zh-CN" dirty="0"/>
          </a:p>
          <a:p>
            <a:pPr lvl="3"/>
            <a:r>
              <a:rPr lang="zh-CN" altLang="en-US" dirty="0"/>
              <a:t>声明</a:t>
            </a:r>
            <a:r>
              <a:rPr lang="en-US" altLang="zh-CN" dirty="0"/>
              <a:t>color</a:t>
            </a:r>
            <a:r>
              <a:rPr lang="zh-CN" altLang="en-US" dirty="0"/>
              <a:t>变量时，关键字</a:t>
            </a:r>
            <a:r>
              <a:rPr lang="en-US" altLang="zh-CN" dirty="0" err="1"/>
              <a:t>enum</a:t>
            </a:r>
            <a:r>
              <a:rPr lang="zh-CN" altLang="en-US" dirty="0"/>
              <a:t>可以省略</a:t>
            </a:r>
            <a:endParaRPr lang="en-US" altLang="zh-CN" dirty="0"/>
          </a:p>
          <a:p>
            <a:pPr lvl="2"/>
            <a:r>
              <a:rPr lang="zh-CN" altLang="en-US" dirty="0"/>
              <a:t>变量</a:t>
            </a:r>
            <a:r>
              <a:rPr lang="en-US" altLang="zh-CN" dirty="0"/>
              <a:t>b</a:t>
            </a:r>
            <a:r>
              <a:rPr lang="zh-CN" altLang="en-US" dirty="0"/>
              <a:t>的初始值为</a:t>
            </a:r>
            <a:r>
              <a:rPr lang="en-US" altLang="zh-CN" dirty="0"/>
              <a:t>RED</a:t>
            </a:r>
            <a:r>
              <a:rPr lang="zh-CN" altLang="en-US" dirty="0"/>
              <a:t>（或整数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day {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Sun,Mon,Tue,Wed,Thu,Fri,Sat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sz="2200" dirty="0"/>
              <a:t>Sun</a:t>
            </a:r>
            <a:r>
              <a:rPr lang="zh-CN" altLang="en-US" sz="2200" dirty="0"/>
              <a:t>与整数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zh-CN" altLang="en-US" sz="2200" dirty="0"/>
              <a:t>对应</a:t>
            </a:r>
            <a:endParaRPr lang="en-US" altLang="zh-CN" sz="2200" dirty="0"/>
          </a:p>
          <a:p>
            <a:pPr marL="457200" lvl="1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day1 {Mon=1,Tue,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Wed,Thu,Fri,Sat,Sun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  <a:endParaRPr lang="en-US" altLang="zh-CN" dirty="0"/>
          </a:p>
          <a:p>
            <a:pPr lvl="1"/>
            <a:r>
              <a:rPr lang="zh-CN" altLang="en-US" dirty="0"/>
              <a:t>枚举类型是整型的子集</a:t>
            </a:r>
            <a:endParaRPr lang="en-US" altLang="zh-CN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个枚举值</a:t>
            </a:r>
            <a:r>
              <a:rPr lang="zh-CN" altLang="en-US" dirty="0">
                <a:solidFill>
                  <a:srgbClr val="C00000"/>
                </a:solidFill>
              </a:rPr>
              <a:t>全部未赋</a:t>
            </a:r>
            <a:r>
              <a:rPr lang="zh-CN" altLang="en-US" dirty="0"/>
              <a:t>整型常量值时，从左向右对应整数</a:t>
            </a:r>
            <a:r>
              <a:rPr lang="en-US" altLang="zh-CN" dirty="0"/>
              <a:t>0</a:t>
            </a:r>
            <a:r>
              <a:rPr lang="en-US" altLang="zh-CN" dirty="0">
                <a:latin typeface="华文行楷" panose="02010800040101010101" pitchFamily="2" charset="-122"/>
                <a:ea typeface="华文行楷" panose="02010800040101010101" pitchFamily="2" charset="-122"/>
              </a:rPr>
              <a:t>~</a:t>
            </a:r>
            <a:r>
              <a:rPr lang="en-US" altLang="zh-CN" dirty="0"/>
              <a:t>n-1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 err="1"/>
              <a:t>i</a:t>
            </a:r>
            <a:r>
              <a:rPr lang="zh-CN" altLang="en-US" dirty="0"/>
              <a:t>个枚举值赋予常量</a:t>
            </a:r>
            <a:r>
              <a:rPr lang="en-US" altLang="zh-CN" dirty="0"/>
              <a:t>m</a:t>
            </a:r>
            <a:r>
              <a:rPr lang="zh-CN" altLang="en-US" dirty="0"/>
              <a:t>，则从第</a:t>
            </a:r>
            <a:r>
              <a:rPr lang="en-US" altLang="zh-CN" dirty="0"/>
              <a:t>i+1</a:t>
            </a:r>
            <a:r>
              <a:rPr lang="zh-CN" altLang="en-US" dirty="0"/>
              <a:t>个枚举值开始，分别对应整数</a:t>
            </a:r>
            <a:r>
              <a:rPr lang="en-US" altLang="zh-CN" dirty="0"/>
              <a:t>m+1</a:t>
            </a:r>
            <a:r>
              <a:rPr lang="zh-CN" altLang="en-US" dirty="0"/>
              <a:t>，</a:t>
            </a:r>
            <a:r>
              <a:rPr lang="en-US" altLang="zh-CN"/>
              <a:t>m+2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，直到下一个赋了值的枚举值或结束</a:t>
            </a:r>
            <a:endParaRPr lang="en-US" altLang="zh-CN" dirty="0"/>
          </a:p>
          <a:p>
            <a:pPr lvl="1"/>
            <a:r>
              <a:rPr lang="zh-CN" altLang="en-US" dirty="0"/>
              <a:t>枚举类型变量不能赋整数值</a:t>
            </a:r>
            <a:endParaRPr lang="en-US" altLang="zh-CN" dirty="0"/>
          </a:p>
          <a:p>
            <a:pPr lvl="1"/>
            <a:r>
              <a:rPr lang="zh-CN" altLang="en-US" dirty="0"/>
              <a:t>枚举值按照常量处理，是整型常量</a:t>
            </a:r>
            <a:endParaRPr lang="en-US" altLang="zh-CN" dirty="0"/>
          </a:p>
          <a:p>
            <a:pPr lvl="2"/>
            <a:r>
              <a:rPr lang="zh-CN" altLang="en-US" dirty="0"/>
              <a:t>枚举值用标识符表示，但是输出为整数</a:t>
            </a:r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57081" y="2060848"/>
            <a:ext cx="7992888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color{RED,YELLOW=3,BLUE } c1=YELLOW,c2;</a:t>
            </a:r>
            <a:r>
              <a:rPr lang="en-US" altLang="zh-CN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sz="20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 a, b=BLUE, c, d=RED;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&lt;&lt;RED&lt;&lt;' '&lt;&lt;YELLOW&lt;&lt;' '&lt;&lt;BLUE&lt;&lt;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&lt;&lt;"c1="&lt;&lt;c1&lt;&lt;"  b="&lt;&lt;b&lt;&lt;"  d="&lt;&lt;d&lt;&lt;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51720" y="5417716"/>
            <a:ext cx="3045060" cy="963612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5474856"/>
            <a:ext cx="1440160" cy="4397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10" name="矩形 9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字符串类</a:t>
            </a:r>
            <a:endParaRPr lang="en-US" altLang="zh-CN" dirty="0"/>
          </a:p>
          <a:p>
            <a:pPr lvl="1"/>
            <a:r>
              <a:rPr lang="zh-CN" altLang="en-US" dirty="0"/>
              <a:t>不是基本数据类型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标准库中定义，属于</a:t>
            </a:r>
            <a:r>
              <a:rPr lang="zh-CN" altLang="en-US" dirty="0">
                <a:solidFill>
                  <a:srgbClr val="C00000"/>
                </a:solidFill>
              </a:rPr>
              <a:t>标准库类型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可以作为数据类型使用</a:t>
            </a:r>
            <a:endParaRPr lang="en-US" altLang="zh-CN" dirty="0"/>
          </a:p>
          <a:p>
            <a:r>
              <a:rPr lang="zh-CN" altLang="en-US" dirty="0"/>
              <a:t>字符串对象</a:t>
            </a:r>
            <a:endParaRPr lang="en-US" altLang="zh-CN" dirty="0"/>
          </a:p>
          <a:p>
            <a:pPr lvl="1"/>
            <a:r>
              <a:rPr lang="zh-CN" altLang="en-US" dirty="0"/>
              <a:t>说明为字符串类型的变量</a:t>
            </a:r>
            <a:endParaRPr lang="en-US" altLang="zh-CN" dirty="0"/>
          </a:p>
          <a:p>
            <a:pPr lvl="1"/>
            <a:r>
              <a:rPr lang="zh-CN" altLang="en-US" dirty="0"/>
              <a:t>实际是字符串类的</a:t>
            </a:r>
            <a:r>
              <a:rPr lang="zh-CN" altLang="en-US" dirty="0">
                <a:solidFill>
                  <a:srgbClr val="C00000"/>
                </a:solidFill>
              </a:rPr>
              <a:t>对象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字符串类型的某些功能通过字符串类的成员函数实现</a:t>
            </a:r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88419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说明字符串对象</a:t>
            </a:r>
            <a:endParaRPr lang="en-US" altLang="zh-CN" dirty="0"/>
          </a:p>
          <a:p>
            <a:pPr lvl="1" algn="ctr"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/>
              <a:t>字符串对象的初始化</a:t>
            </a:r>
            <a:endParaRPr lang="en-US" altLang="zh-CN" dirty="0"/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{"hello"};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("hello");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="hello";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{};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89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访问字符串中的字符</a:t>
            </a:r>
            <a:endParaRPr lang="en-US" altLang="zh-CN" dirty="0"/>
          </a:p>
          <a:p>
            <a:pPr lvl="2"/>
            <a:r>
              <a:rPr lang="zh-CN" altLang="en-US" dirty="0"/>
              <a:t>字符数组下标</a:t>
            </a:r>
            <a:endParaRPr lang="en-US" altLang="zh-CN" dirty="0"/>
          </a:p>
          <a:p>
            <a:pPr lvl="2"/>
            <a:r>
              <a:rPr lang="zh-CN" altLang="en-US" dirty="0"/>
              <a:t>例如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 ="Then";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word[2] = 'a';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dirty="0"/>
              <a:t>字符串对象的值变为：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"Than"</a:t>
            </a:r>
            <a:endParaRPr lang="en-US" altLang="zh-CN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dirty="0"/>
              <a:t>输入输出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panose="02070309020205020404" pitchFamily="49" charset="0"/>
              </a:rPr>
              <a:t>cin</a:t>
            </a:r>
            <a:r>
              <a:rPr lang="en-US" altLang="zh-CN" b="1" dirty="0">
                <a:latin typeface="Courier New" panose="02070309020205020404" pitchFamily="49" charset="0"/>
              </a:rPr>
              <a:t>&gt;&gt;word;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2"/>
            <a:r>
              <a:rPr lang="en-US" altLang="zh-CN" b="1" dirty="0" err="1">
                <a:latin typeface="Courier New" panose="02070309020205020404" pitchFamily="49" charset="0"/>
              </a:rPr>
              <a:t>cout</a:t>
            </a:r>
            <a:r>
              <a:rPr lang="en-US" altLang="zh-CN" b="1" dirty="0">
                <a:latin typeface="Courier New" panose="02070309020205020404" pitchFamily="49" charset="0"/>
              </a:rPr>
              <a:t>&lt;&lt;word;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endParaRPr lang="en-US" altLang="zh-CN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90467" name="内容占位符 2"/>
          <p:cNvSpPr>
            <a:spLocks noGrp="1"/>
          </p:cNvSpPr>
          <p:nvPr>
            <p:ph idx="1"/>
          </p:nvPr>
        </p:nvSpPr>
        <p:spPr>
          <a:xfrm>
            <a:off x="539552" y="1988840"/>
            <a:ext cx="7920880" cy="4335760"/>
          </a:xfrm>
        </p:spPr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计算长度</a:t>
            </a:r>
            <a:endParaRPr lang="en-US" altLang="zh-CN" dirty="0"/>
          </a:p>
          <a:p>
            <a:pPr lvl="2"/>
            <a:r>
              <a:rPr lang="zh-CN" altLang="en-US" dirty="0"/>
              <a:t>调用字符串类的成员函数</a:t>
            </a:r>
            <a:r>
              <a:rPr lang="en-US" altLang="zh-CN" dirty="0"/>
              <a:t>length()</a:t>
            </a:r>
            <a:endParaRPr lang="en-US" altLang="zh-CN" dirty="0"/>
          </a:p>
          <a:p>
            <a:pPr lvl="2"/>
            <a:r>
              <a:rPr lang="zh-CN" altLang="en-US" dirty="0"/>
              <a:t>例如：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word.length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CN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dirty="0"/>
              <a:t>连接</a:t>
            </a:r>
            <a:endParaRPr lang="en-US" altLang="zh-CN" dirty="0"/>
          </a:p>
          <a:p>
            <a:pPr lvl="2"/>
            <a:r>
              <a:rPr lang="zh-CN" altLang="en-US" dirty="0"/>
              <a:t>重载算术运算符“</a:t>
            </a:r>
            <a:r>
              <a:rPr lang="en-US" altLang="zh-CN" dirty="0"/>
              <a:t>+</a:t>
            </a:r>
            <a:r>
              <a:rPr lang="zh-CN" altLang="en-US" dirty="0"/>
              <a:t>”</a:t>
            </a:r>
            <a:endParaRPr lang="en-US" altLang="zh-CN" dirty="0"/>
          </a:p>
          <a:p>
            <a:pPr lvl="2"/>
            <a:r>
              <a:rPr lang="zh-CN" altLang="en-US" dirty="0"/>
              <a:t>例如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619672" y="4509120"/>
            <a:ext cx="70567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word1 =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hello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word2 =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 C++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word3 = word1 + word2;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b="1" dirty="0" err="1">
                <a:latin typeface="Courier New" panose="02070309020205020404" pitchFamily="49" charset="0"/>
              </a:rPr>
              <a:t>cout</a:t>
            </a:r>
            <a:r>
              <a:rPr lang="en-US" altLang="zh-CN" b="1" dirty="0">
                <a:latin typeface="Courier New" panose="02070309020205020404" pitchFamily="49" charset="0"/>
              </a:rPr>
              <a:t>&lt;&lt;word3&lt;&lt;</a:t>
            </a:r>
            <a:r>
              <a:rPr lang="en-US" altLang="zh-CN" b="1" dirty="0" err="1">
                <a:latin typeface="Courier New" panose="02070309020205020404" pitchFamily="49" charset="0"/>
              </a:rPr>
              <a:t>endl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//word3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为：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C++"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注意：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不支持两个字符串字面量的连接，如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word4 =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hello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 +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 world!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endParaRPr lang="en-US" altLang="zh-CN" b="1" dirty="0"/>
          </a:p>
        </p:txBody>
      </p:sp>
      <p:sp>
        <p:nvSpPr>
          <p:cNvPr id="7" name="矩形 6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字符串连接字符</a:t>
            </a:r>
            <a:r>
              <a:rPr lang="zh-CN" altLang="en-US" sz="1200" dirty="0">
                <a:highlight>
                  <a:srgbClr val="FFFF00"/>
                </a:highlight>
              </a:rPr>
              <a:t>（？）</a:t>
            </a:r>
            <a:r>
              <a:rPr lang="zh-CN" altLang="en-US" dirty="0"/>
              <a:t>、整数、浮点数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{"the result is "};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('a');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(69);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(6.2832);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91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赋值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word1="hello";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word2{word1};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word1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值赋给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word2</a:t>
            </a:r>
            <a:endParaRPr lang="en-US" altLang="zh-CN" b="1" dirty="0">
              <a:solidFill>
                <a:srgbClr val="00B050"/>
              </a:solidFill>
            </a:endParaRPr>
          </a:p>
          <a:p>
            <a:pPr lvl="1"/>
            <a:r>
              <a:rPr lang="zh-CN" altLang="en-US" dirty="0"/>
              <a:t>比较</a:t>
            </a:r>
            <a:endParaRPr lang="en-US" altLang="zh-CN" dirty="0"/>
          </a:p>
          <a:p>
            <a:pPr lvl="2"/>
            <a:r>
              <a:rPr lang="zh-CN" altLang="en-US" dirty="0"/>
              <a:t>重载关系运算符：</a:t>
            </a:r>
            <a:r>
              <a:rPr lang="en-US" altLang="zh-CN" dirty="0"/>
              <a:t>==</a:t>
            </a:r>
            <a:r>
              <a:rPr lang="zh-CN" altLang="en-US" dirty="0"/>
              <a:t>、</a:t>
            </a:r>
            <a:r>
              <a:rPr lang="en-US" altLang="zh-CN" dirty="0"/>
              <a:t>&gt;</a:t>
            </a:r>
            <a:r>
              <a:rPr lang="zh-CN" altLang="en-US" dirty="0"/>
              <a:t>、</a:t>
            </a:r>
            <a:r>
              <a:rPr lang="en-US" altLang="zh-CN" dirty="0"/>
              <a:t>&lt;</a:t>
            </a:r>
            <a:r>
              <a:rPr lang="zh-CN" altLang="en-US" dirty="0"/>
              <a:t>、</a:t>
            </a:r>
            <a:r>
              <a:rPr lang="en-US" altLang="zh-CN" dirty="0"/>
              <a:t>!=</a:t>
            </a:r>
            <a:r>
              <a:rPr lang="zh-CN" altLang="en-US" dirty="0"/>
              <a:t>、</a:t>
            </a:r>
            <a:r>
              <a:rPr lang="en-US" altLang="zh-CN" dirty="0"/>
              <a:t>&gt;=</a:t>
            </a:r>
            <a:r>
              <a:rPr lang="zh-CN" altLang="en-US" dirty="0"/>
              <a:t>、</a:t>
            </a:r>
            <a:r>
              <a:rPr lang="en-US" altLang="zh-CN" dirty="0"/>
              <a:t>&lt;=</a:t>
            </a:r>
            <a:r>
              <a:rPr lang="zh-CN" altLang="en-US" dirty="0"/>
              <a:t>、</a:t>
            </a:r>
            <a:endParaRPr lang="en-US" altLang="zh-CN" dirty="0"/>
          </a:p>
          <a:p>
            <a:pPr lvl="3"/>
            <a:r>
              <a:rPr lang="zh-CN" altLang="en-US" dirty="0"/>
              <a:t>逐个比较字符，直到找到第一个不同的字符，根据</a:t>
            </a:r>
            <a:r>
              <a:rPr lang="en-US" altLang="zh-CN" dirty="0"/>
              <a:t>ASCII</a:t>
            </a:r>
            <a:r>
              <a:rPr lang="zh-CN" altLang="en-US" dirty="0"/>
              <a:t>值比较不同字符的大小关系</a:t>
            </a:r>
            <a:endParaRPr lang="en-US" altLang="zh-CN" dirty="0"/>
          </a:p>
          <a:p>
            <a:pPr lvl="2"/>
            <a:r>
              <a:rPr lang="zh-CN" altLang="en-US" dirty="0"/>
              <a:t>构造关于字符串的关系表达式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925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字符串数组</a:t>
            </a:r>
            <a:endParaRPr lang="en-US" altLang="zh-CN" dirty="0"/>
          </a:p>
          <a:p>
            <a:pPr lvl="1"/>
            <a:r>
              <a:rPr lang="zh-CN" altLang="en-US" dirty="0"/>
              <a:t>说明</a:t>
            </a:r>
            <a:endParaRPr lang="en-US" altLang="zh-CN" dirty="0"/>
          </a:p>
          <a:p>
            <a:pPr lvl="2"/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dirty="0"/>
              <a:t>初始化</a:t>
            </a:r>
            <a:endParaRPr lang="en-US" altLang="zh-CN" dirty="0"/>
          </a:p>
          <a:p>
            <a:pPr lvl="2"/>
            <a:r>
              <a:rPr lang="en-US" altLang="zh-CN" b="1" dirty="0">
                <a:latin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</a:rPr>
              <a:t>[10]={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 err="1">
                <a:latin typeface="Courier New" panose="02070309020205020404" pitchFamily="49" charset="0"/>
              </a:rPr>
              <a:t>zhao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,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US" altLang="zh-CN" b="1" dirty="0" err="1">
                <a:latin typeface="Courier New" panose="02070309020205020404" pitchFamily="49" charset="0"/>
              </a:rPr>
              <a:t>qian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};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/>
              <a:t>赋值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</a:rPr>
              <a:t>[2]=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sun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/>
              <a:t>存储方式</a:t>
            </a:r>
            <a:endParaRPr lang="en-US" altLang="zh-CN" dirty="0"/>
          </a:p>
          <a:p>
            <a:pPr lvl="2"/>
            <a:r>
              <a:rPr lang="en-US" altLang="zh-CN" dirty="0"/>
              <a:t>Visual C++</a:t>
            </a:r>
            <a:r>
              <a:rPr lang="zh-CN" altLang="en-US" dirty="0"/>
              <a:t>编译器为字符串类型变量分配</a:t>
            </a:r>
            <a:r>
              <a:rPr lang="en-US" altLang="zh-CN" dirty="0"/>
              <a:t>16Byte</a:t>
            </a:r>
            <a:r>
              <a:rPr lang="zh-CN" altLang="en-US" dirty="0"/>
              <a:t>的存储空间，存储字符串在内存中的地址</a:t>
            </a:r>
            <a:endParaRPr lang="zh-CN" altLang="en-US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宽字符串</a:t>
            </a:r>
            <a:endParaRPr lang="en-US" altLang="zh-CN" dirty="0"/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wstring</a:t>
            </a:r>
            <a:endParaRPr lang="en-US" altLang="zh-CN" dirty="0"/>
          </a:p>
          <a:p>
            <a:r>
              <a:rPr lang="en-US" altLang="zh-CN" dirty="0"/>
              <a:t>Unicode</a:t>
            </a:r>
            <a:r>
              <a:rPr lang="zh-CN" altLang="en-US" dirty="0"/>
              <a:t>字符串</a:t>
            </a:r>
            <a:endParaRPr lang="en-US" altLang="zh-CN" dirty="0"/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::u16string</a:t>
            </a:r>
            <a:endParaRPr lang="en-US" altLang="zh-CN" dirty="0"/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::u32string</a:t>
            </a:r>
            <a:endParaRPr lang="zh-CN" altLang="en-US" dirty="0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13"/>
            <a:ext cx="8579296" cy="450056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样式的字符串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[20];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/>
              <a:t>将</a:t>
            </a:r>
            <a:r>
              <a:rPr lang="en-US" altLang="zh-CN" dirty="0"/>
              <a:t>string</a:t>
            </a:r>
            <a:r>
              <a:rPr lang="zh-CN" altLang="en-US" dirty="0"/>
              <a:t>字符串转换为</a:t>
            </a:r>
            <a:r>
              <a:rPr lang="en-US" altLang="zh-CN" dirty="0"/>
              <a:t>C</a:t>
            </a:r>
            <a:r>
              <a:rPr lang="zh-CN" altLang="en-US" dirty="0"/>
              <a:t>字符串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{"Hello"};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char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* c_type1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string_type.c_str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*c_type2=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string_type.data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隐式转换</a:t>
            </a:r>
            <a:endParaRPr lang="en-US" altLang="zh-CN" dirty="0"/>
          </a:p>
          <a:p>
            <a:pPr lvl="1"/>
            <a:r>
              <a:rPr lang="zh-CN" altLang="en-US" dirty="0"/>
              <a:t>运算表达式中，运算分量、运算结果的类型不一致时，支持部分数据类型的隐式转换</a:t>
            </a:r>
            <a:endParaRPr lang="en-US" altLang="zh-CN" dirty="0"/>
          </a:p>
          <a:p>
            <a:pPr lvl="2"/>
            <a:r>
              <a:rPr lang="zh-CN" altLang="en-US" dirty="0"/>
              <a:t>赋值运算、算术运算等等</a:t>
            </a:r>
            <a:endParaRPr lang="en-US" altLang="zh-CN" dirty="0"/>
          </a:p>
          <a:p>
            <a:r>
              <a:rPr lang="zh-CN" altLang="en-US" dirty="0"/>
              <a:t>显式转换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CN" dirty="0" err="1">
                <a:solidFill>
                  <a:srgbClr val="C00000"/>
                </a:solidFill>
              </a:rPr>
              <a:t>static_cast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zh-CN" altLang="en-US" dirty="0">
                <a:solidFill>
                  <a:srgbClr val="C00000"/>
                </a:solidFill>
              </a:rPr>
              <a:t>目标数据类型</a:t>
            </a:r>
            <a:r>
              <a:rPr lang="en-US" altLang="zh-CN" dirty="0">
                <a:solidFill>
                  <a:srgbClr val="C00000"/>
                </a:solidFill>
              </a:rPr>
              <a:t>&gt;(</a:t>
            </a:r>
            <a:r>
              <a:rPr lang="zh-CN" altLang="en-US" dirty="0">
                <a:solidFill>
                  <a:srgbClr val="C00000"/>
                </a:solidFill>
              </a:rPr>
              <a:t>表达式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 err="1"/>
              <a:t>const_cast</a:t>
            </a:r>
            <a:r>
              <a:rPr lang="en-US" altLang="zh-CN" dirty="0"/>
              <a:t>&lt;</a:t>
            </a:r>
            <a:r>
              <a:rPr lang="zh-CN" altLang="en-US" dirty="0"/>
              <a:t>目标数据类型</a:t>
            </a:r>
            <a:r>
              <a:rPr lang="en-US" altLang="zh-CN" dirty="0"/>
              <a:t>&gt;(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  <a:endParaRPr lang="zh-CN" altLang="en-US" dirty="0"/>
          </a:p>
          <a:p>
            <a:pPr lvl="1"/>
            <a:r>
              <a:rPr lang="en-US" altLang="zh-CN" dirty="0" err="1"/>
              <a:t>dynamic_cast</a:t>
            </a:r>
            <a:r>
              <a:rPr lang="en-US" altLang="zh-CN" dirty="0"/>
              <a:t>&lt;</a:t>
            </a:r>
            <a:r>
              <a:rPr lang="zh-CN" altLang="en-US" dirty="0"/>
              <a:t>目标数据类型</a:t>
            </a:r>
            <a:r>
              <a:rPr lang="en-US" altLang="zh-CN" dirty="0"/>
              <a:t>&gt;(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  <a:endParaRPr lang="zh-CN" altLang="en-US" dirty="0"/>
          </a:p>
          <a:p>
            <a:pPr lvl="1"/>
            <a:r>
              <a:rPr lang="en-US" altLang="zh-CN" dirty="0" err="1"/>
              <a:t>reinterpret_cast</a:t>
            </a:r>
            <a:r>
              <a:rPr lang="en-US" altLang="zh-CN" dirty="0"/>
              <a:t>&lt;</a:t>
            </a:r>
            <a:r>
              <a:rPr lang="zh-CN" altLang="en-US" dirty="0"/>
              <a:t>目标数据类型</a:t>
            </a:r>
            <a:r>
              <a:rPr lang="en-US" altLang="zh-CN" dirty="0"/>
              <a:t>&gt;(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数据类型的转换</a:t>
            </a:r>
            <a:endParaRPr lang="zh-CN" altLang="en-US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d1=21.98,d2=6.28;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&gt;(d1+d2)};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j {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&gt;(d1)+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&gt;(d2)};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程序执行后，变量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的值分别是：？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数据类型的转换</a:t>
            </a:r>
            <a:endParaRPr lang="zh-CN" altLang="en-US" dirty="0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数据类型的转换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2276872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40768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555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576760" y="239919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3212976"/>
            <a:ext cx="5356225" cy="2735904"/>
            <a:chOff x="1643042" y="2204397"/>
            <a:chExt cx="5356246" cy="2735912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2204397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2204397"/>
              <a:ext cx="792165" cy="792091"/>
              <a:chOff x="854055" y="1561455"/>
              <a:chExt cx="792165" cy="792091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1561455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56455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3284984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复合数据类型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4173381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4281414"/>
            <a:ext cx="4320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4127336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CV</a:t>
            </a:r>
            <a:r>
              <a:rPr lang="zh-CN" altLang="en-US" dirty="0"/>
              <a:t>限定符（</a:t>
            </a:r>
            <a:r>
              <a:rPr lang="en-US" altLang="zh-CN" dirty="0"/>
              <a:t>CV-qualifiers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const</a:t>
            </a:r>
            <a:endParaRPr lang="en-US" altLang="zh-CN" dirty="0"/>
          </a:p>
          <a:p>
            <a:pPr lvl="1"/>
            <a:r>
              <a:rPr lang="zh-CN" altLang="en-US" dirty="0"/>
              <a:t>常量限定，用于将某个变量限定为其值不可变（常变量）</a:t>
            </a:r>
            <a:endParaRPr lang="en-US" altLang="zh-CN" dirty="0"/>
          </a:p>
          <a:p>
            <a:r>
              <a:rPr lang="en-US" altLang="zh-CN" dirty="0"/>
              <a:t>volatile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0000FF"/>
                </a:solidFill>
              </a:rPr>
              <a:t>volatile</a:t>
            </a:r>
            <a:r>
              <a:rPr lang="zh-CN" altLang="en-US" dirty="0"/>
              <a:t>提醒编译器它后面所定义的变量随时都有可能改变，因此编译后的程序每次需要存储或读取这个变量的时候，都会直接从变量地址中读取数据。</a:t>
            </a:r>
            <a:endParaRPr lang="zh-CN" altLang="en-US" dirty="0"/>
          </a:p>
          <a:p>
            <a:pPr lvl="1"/>
            <a:r>
              <a:rPr lang="zh-CN" altLang="en-US" dirty="0"/>
              <a:t>如果没有</a:t>
            </a:r>
            <a:r>
              <a:rPr lang="en-US" altLang="zh-CN" dirty="0"/>
              <a:t>volatile</a:t>
            </a:r>
            <a:r>
              <a:rPr lang="zh-CN" altLang="en-US" dirty="0"/>
              <a:t>关键字，则编译器可能优化读取和存储，可能暂时使用寄存器中的值，如果这个变量由别的程序更新了的话，将出现不一致的现象。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2276872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40768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555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576760" y="239919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3212976"/>
            <a:ext cx="5356225" cy="1729852"/>
            <a:chOff x="1643042" y="2204397"/>
            <a:chExt cx="5356246" cy="1729860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2204397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3140504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2204397"/>
              <a:ext cx="792165" cy="792091"/>
              <a:chOff x="854055" y="1561455"/>
              <a:chExt cx="792165" cy="792091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1561455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156455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3140504"/>
              <a:ext cx="792165" cy="788992"/>
              <a:chOff x="854055" y="640174"/>
              <a:chExt cx="792165" cy="788992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640175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4055" y="640174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3284984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复合数据类型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578223" y="4293096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5131229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5239262"/>
            <a:ext cx="4320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5085184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矩形 5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语句概览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zh-CN" altLang="en-US" dirty="0"/>
              <a:t>标签语句</a:t>
            </a:r>
            <a:endParaRPr lang="en-US" altLang="zh-CN" dirty="0"/>
          </a:p>
          <a:p>
            <a:pPr lvl="1"/>
            <a:r>
              <a:rPr lang="zh-CN" altLang="en-US" dirty="0"/>
              <a:t>表达式语句</a:t>
            </a:r>
            <a:endParaRPr lang="en-US" altLang="zh-CN" dirty="0"/>
          </a:p>
          <a:p>
            <a:pPr lvl="2"/>
            <a:r>
              <a:rPr lang="zh-CN" altLang="en-US" dirty="0"/>
              <a:t>数学表达式</a:t>
            </a:r>
            <a:endParaRPr lang="en-US" altLang="zh-CN" dirty="0"/>
          </a:p>
          <a:p>
            <a:pPr lvl="2"/>
            <a:r>
              <a:rPr lang="zh-CN" altLang="en-US" dirty="0"/>
              <a:t>赋值语句</a:t>
            </a:r>
            <a:endParaRPr lang="en-US" altLang="zh-CN" dirty="0"/>
          </a:p>
          <a:p>
            <a:pPr lvl="2"/>
            <a:r>
              <a:rPr lang="zh-CN" altLang="en-US" dirty="0"/>
              <a:t>输入输出语句</a:t>
            </a:r>
            <a:endParaRPr lang="en-US" altLang="zh-CN" dirty="0"/>
          </a:p>
          <a:p>
            <a:pPr lvl="2"/>
            <a:r>
              <a:rPr lang="zh-CN" altLang="en-US" dirty="0"/>
              <a:t>函数调用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  <a:endParaRPr lang="en-US" altLang="zh-CN" dirty="0"/>
          </a:p>
          <a:p>
            <a:pPr lvl="1"/>
            <a:r>
              <a:rPr lang="zh-CN" altLang="en-US" dirty="0"/>
              <a:t>分支语句</a:t>
            </a:r>
            <a:endParaRPr lang="en-US" altLang="zh-CN" dirty="0"/>
          </a:p>
          <a:p>
            <a:pPr lvl="1"/>
            <a:r>
              <a:rPr lang="zh-CN" altLang="en-US" dirty="0"/>
              <a:t>循环语句</a:t>
            </a:r>
            <a:endParaRPr lang="en-US" altLang="zh-CN" dirty="0"/>
          </a:p>
          <a:p>
            <a:pPr lvl="1"/>
            <a:r>
              <a:rPr lang="zh-CN" altLang="en-US" dirty="0"/>
              <a:t>转向语句</a:t>
            </a:r>
            <a:endParaRPr lang="en-US" altLang="zh-CN" dirty="0"/>
          </a:p>
          <a:p>
            <a:pPr lvl="1"/>
            <a:r>
              <a:rPr lang="zh-CN" altLang="en-US" dirty="0"/>
              <a:t>复合语句和语句块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说明语句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常量的说明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常变量说明及初始化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const</a:t>
            </a:r>
            <a:r>
              <a:rPr lang="en-US" altLang="zh-CN" dirty="0"/>
              <a:t> &lt;</a:t>
            </a:r>
            <a:r>
              <a:rPr lang="zh-CN" altLang="en-US" dirty="0"/>
              <a:t>数据类型</a:t>
            </a:r>
            <a:r>
              <a:rPr lang="en-US" altLang="zh-CN" dirty="0"/>
              <a:t>&gt; &lt;</a:t>
            </a:r>
            <a:r>
              <a:rPr lang="zh-CN" altLang="en-US" dirty="0"/>
              <a:t>常变量名</a:t>
            </a:r>
            <a:r>
              <a:rPr lang="en-US" altLang="zh-CN" dirty="0"/>
              <a:t>&gt; = 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endParaRPr lang="zh-CN" altLang="en-US" dirty="0"/>
          </a:p>
          <a:p>
            <a:pPr lvl="2"/>
            <a:r>
              <a:rPr lang="zh-CN" altLang="en-US" dirty="0"/>
              <a:t>类型名，即数据类型</a:t>
            </a:r>
            <a:endParaRPr lang="en-US" altLang="zh-CN" dirty="0"/>
          </a:p>
          <a:p>
            <a:pPr lvl="2"/>
            <a:r>
              <a:rPr lang="zh-CN" altLang="en-US" dirty="0"/>
              <a:t>常变量名是标识符</a:t>
            </a:r>
            <a:endParaRPr lang="en-US" altLang="zh-CN" dirty="0"/>
          </a:p>
          <a:p>
            <a:pPr lvl="2"/>
            <a:r>
              <a:rPr lang="zh-CN" altLang="en-US" dirty="0"/>
              <a:t>表达式的类型与常变量类型一致</a:t>
            </a:r>
            <a:endParaRPr lang="en-US" altLang="zh-CN" dirty="0"/>
          </a:p>
          <a:p>
            <a:r>
              <a:rPr lang="zh-CN" altLang="en-US" dirty="0"/>
              <a:t>宏替换定义常量</a:t>
            </a:r>
            <a:endParaRPr lang="en-US" altLang="zh-CN" dirty="0"/>
          </a:p>
          <a:p>
            <a:pPr lvl="1"/>
            <a:r>
              <a:rPr lang="zh-CN" altLang="en-US" dirty="0"/>
              <a:t>字符串替换，没有数据类型，不分配存储空间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#define </a:t>
            </a:r>
            <a:r>
              <a:rPr lang="en-US" altLang="zh-CN" dirty="0"/>
              <a:t>&lt;</a:t>
            </a:r>
            <a:r>
              <a:rPr lang="zh-CN" altLang="en-US" dirty="0"/>
              <a:t>常量名</a:t>
            </a:r>
            <a:r>
              <a:rPr lang="en-US" altLang="zh-CN" dirty="0"/>
              <a:t>&gt; 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endParaRPr lang="en-US" altLang="zh-CN" dirty="0"/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变量说明</a:t>
            </a:r>
            <a:endParaRPr lang="en-US" altLang="zh-CN" dirty="0"/>
          </a:p>
          <a:p>
            <a:pPr lvl="1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&gt;[,&lt;</a:t>
            </a:r>
            <a:r>
              <a:rPr lang="zh-CN" altLang="en-US" dirty="0"/>
              <a:t>变量名</a:t>
            </a:r>
            <a:r>
              <a:rPr lang="en-US" altLang="zh-CN" dirty="0"/>
              <a:t>&gt;]*;</a:t>
            </a:r>
            <a:endParaRPr lang="en-US" altLang="zh-CN" dirty="0"/>
          </a:p>
          <a:p>
            <a:r>
              <a:rPr lang="zh-CN" altLang="en-US" dirty="0"/>
              <a:t>变量的存储类属性</a:t>
            </a:r>
            <a:endParaRPr lang="en-US" altLang="zh-CN" dirty="0"/>
          </a:p>
          <a:p>
            <a:pPr lvl="1"/>
            <a:r>
              <a:rPr lang="en-US" altLang="zh-CN" dirty="0"/>
              <a:t>static</a:t>
            </a:r>
            <a:r>
              <a:rPr lang="zh-CN" altLang="en-US" dirty="0"/>
              <a:t>：静态变量</a:t>
            </a:r>
            <a:endParaRPr lang="en-US" altLang="zh-CN" dirty="0"/>
          </a:p>
          <a:p>
            <a:pPr lvl="1"/>
            <a:r>
              <a:rPr lang="en-US" altLang="zh-CN" dirty="0" err="1"/>
              <a:t>thread_local</a:t>
            </a:r>
            <a:r>
              <a:rPr lang="zh-CN" altLang="en-US" dirty="0"/>
              <a:t>：线程的局部变量</a:t>
            </a:r>
            <a:endParaRPr lang="en-US" altLang="zh-CN" dirty="0"/>
          </a:p>
          <a:p>
            <a:pPr lvl="1"/>
            <a:r>
              <a:rPr lang="en-US" altLang="zh-CN" dirty="0"/>
              <a:t>extern</a:t>
            </a:r>
            <a:r>
              <a:rPr lang="zh-CN" altLang="en-US" dirty="0"/>
              <a:t>：外部变量</a:t>
            </a:r>
            <a:endParaRPr lang="en-US" altLang="zh-CN" dirty="0"/>
          </a:p>
          <a:p>
            <a:pPr lvl="1"/>
            <a:r>
              <a:rPr lang="en-US" altLang="zh-CN" dirty="0"/>
              <a:t>mutable</a:t>
            </a:r>
            <a:r>
              <a:rPr lang="zh-CN" altLang="en-US" dirty="0"/>
              <a:t>：可变变量</a:t>
            </a:r>
            <a:endParaRPr lang="en-US" altLang="zh-CN" dirty="0"/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/>
              <a:t>有关变量的概念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CN" altLang="en-US" dirty="0"/>
              <a:t>全局变量和局部变量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全局变量：程序运行的整个过程，内存中位置不变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局部变量：程序运行的过程中，所占内存反复占用和释放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生存期和作用域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生存期：变量所占内存空间由分配到释放的时期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作用域：变量有效的范围，</a:t>
            </a:r>
            <a:r>
              <a:rPr lang="zh-CN" altLang="en-US" dirty="0">
                <a:solidFill>
                  <a:srgbClr val="C00000"/>
                </a:solidFill>
              </a:rPr>
              <a:t>说明变量时所在的语句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初始化（</a:t>
            </a:r>
            <a:r>
              <a:rPr lang="en-US" altLang="zh-CN" dirty="0"/>
              <a:t>Initialization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CN" altLang="en-US" dirty="0"/>
              <a:t>变量的初始化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在变量说明语句中对变量进行赋值</a:t>
            </a:r>
            <a:endParaRPr lang="zh-CN" altLang="en-US" dirty="0"/>
          </a:p>
          <a:p>
            <a:pPr lvl="1"/>
            <a:r>
              <a:rPr lang="zh-CN" altLang="en-US" dirty="0"/>
              <a:t>格式</a:t>
            </a:r>
            <a:endParaRPr lang="en-US" altLang="zh-CN" dirty="0"/>
          </a:p>
          <a:p>
            <a:pPr lvl="2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&gt;{&lt;</a:t>
            </a:r>
            <a:r>
              <a:rPr lang="zh-CN" altLang="en-US" dirty="0"/>
              <a:t>初始值</a:t>
            </a:r>
            <a:r>
              <a:rPr lang="en-US" altLang="zh-CN" dirty="0"/>
              <a:t>&gt;};</a:t>
            </a:r>
            <a:endParaRPr lang="en-US" altLang="zh-CN" dirty="0"/>
          </a:p>
          <a:p>
            <a:pPr lvl="2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&gt;(&lt;</a:t>
            </a:r>
            <a:r>
              <a:rPr lang="zh-CN" altLang="en-US" dirty="0"/>
              <a:t>初始值</a:t>
            </a:r>
            <a:r>
              <a:rPr lang="en-US" altLang="zh-CN" dirty="0"/>
              <a:t>&gt;);</a:t>
            </a:r>
            <a:endParaRPr lang="en-US" altLang="zh-CN" dirty="0"/>
          </a:p>
          <a:p>
            <a:pPr lvl="2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&gt;=&lt;</a:t>
            </a:r>
            <a:r>
              <a:rPr lang="zh-CN" altLang="en-US" dirty="0"/>
              <a:t>初始值</a:t>
            </a:r>
            <a:r>
              <a:rPr lang="en-US" altLang="zh-CN" dirty="0"/>
              <a:t>&gt;;</a:t>
            </a:r>
            <a:endParaRPr lang="en-US" altLang="zh-CN" dirty="0"/>
          </a:p>
          <a:p>
            <a:pPr marL="1371600" lvl="3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a{5};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初始化列表法，默认初始值为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，如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a{}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a(5);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函数表示法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5;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赋值表示法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定义（</a:t>
            </a:r>
            <a:r>
              <a:rPr lang="en-US" altLang="zh-CN" dirty="0"/>
              <a:t>definition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带有初始化的说明语句</a:t>
            </a:r>
            <a:endParaRPr lang="en-US" altLang="zh-CN" dirty="0"/>
          </a:p>
          <a:p>
            <a:pPr marL="457200" lvl="1" indent="0" algn="ctr">
              <a:buNone/>
            </a:pPr>
            <a:r>
              <a:rPr lang="en-US" altLang="zh-CN" dirty="0"/>
              <a:t>[</a:t>
            </a:r>
            <a:r>
              <a:rPr lang="zh-CN" altLang="en-US" dirty="0"/>
              <a:t>存储类属性</a:t>
            </a:r>
            <a:r>
              <a:rPr lang="en-US" altLang="zh-CN" dirty="0"/>
              <a:t>]  &lt;</a:t>
            </a:r>
            <a:r>
              <a:rPr lang="zh-CN" altLang="en-US" dirty="0"/>
              <a:t>数据类型</a:t>
            </a:r>
            <a:r>
              <a:rPr lang="en-US" altLang="zh-CN" dirty="0"/>
              <a:t>&gt; &lt;</a:t>
            </a:r>
            <a:r>
              <a:rPr lang="zh-CN" altLang="en-US" dirty="0"/>
              <a:t>变量名表</a:t>
            </a:r>
            <a:r>
              <a:rPr lang="en-US" altLang="zh-CN" dirty="0"/>
              <a:t>&gt;;</a:t>
            </a:r>
            <a:endParaRPr lang="en-US" altLang="zh-CN" dirty="0"/>
          </a:p>
          <a:p>
            <a:r>
              <a:rPr lang="zh-CN" altLang="en-US" dirty="0"/>
              <a:t>变量名表</a:t>
            </a:r>
            <a:endParaRPr lang="en-US" altLang="zh-CN" dirty="0"/>
          </a:p>
          <a:p>
            <a:pPr lvl="1"/>
            <a:r>
              <a:rPr lang="zh-CN" altLang="en-US" dirty="0"/>
              <a:t>可以完成对变量的初始化</a:t>
            </a:r>
            <a:endParaRPr lang="en-US" altLang="zh-CN" dirty="0"/>
          </a:p>
          <a:p>
            <a:pPr lvl="1"/>
            <a:r>
              <a:rPr lang="zh-CN" altLang="en-US" dirty="0"/>
              <a:t>格式</a:t>
            </a:r>
            <a:endParaRPr lang="en-US" altLang="zh-CN" dirty="0"/>
          </a:p>
          <a:p>
            <a:pPr marL="914400" lvl="2" indent="0" algn="ctr">
              <a:buNone/>
            </a:pPr>
            <a:r>
              <a:rPr lang="en-US" altLang="zh-CN" dirty="0"/>
              <a:t>&lt;</a:t>
            </a:r>
            <a:r>
              <a:rPr lang="zh-CN" altLang="en-US" dirty="0"/>
              <a:t>变量名</a:t>
            </a:r>
            <a:r>
              <a:rPr lang="en-US" altLang="zh-CN" dirty="0"/>
              <a:t>&gt;[ = &lt;</a:t>
            </a:r>
            <a:r>
              <a:rPr lang="zh-CN" altLang="en-US" dirty="0"/>
              <a:t>表达式</a:t>
            </a:r>
            <a:r>
              <a:rPr lang="en-US" altLang="zh-CN" dirty="0"/>
              <a:t>&gt;][, &lt;</a:t>
            </a:r>
            <a:r>
              <a:rPr lang="zh-CN" altLang="en-US" dirty="0"/>
              <a:t>变量名表</a:t>
            </a:r>
            <a:r>
              <a:rPr lang="en-US" altLang="zh-CN" dirty="0"/>
              <a:t>&gt;]*;</a:t>
            </a:r>
            <a:endParaRPr lang="en-US" altLang="zh-CN" dirty="0"/>
          </a:p>
          <a:p>
            <a:r>
              <a:rPr lang="zh-CN" altLang="en-US" dirty="0"/>
              <a:t>举例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99592" y="5085184"/>
            <a:ext cx="3870325" cy="9350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命名空间的说明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语言的新标准引入的概念</a:t>
            </a:r>
            <a:endParaRPr lang="en-US" altLang="zh-CN" dirty="0"/>
          </a:p>
          <a:p>
            <a:r>
              <a:rPr lang="zh-CN" altLang="en-US" dirty="0"/>
              <a:t>由用户命名的作用域，解决大型程序中标识符重名的问题</a:t>
            </a:r>
            <a:endParaRPr lang="en-US" altLang="zh-CN" dirty="0"/>
          </a:p>
          <a:p>
            <a:pPr lvl="1"/>
            <a:r>
              <a:rPr lang="zh-CN" altLang="en-US" dirty="0"/>
              <a:t>说明语句格式</a:t>
            </a:r>
            <a:endParaRPr lang="en-US" altLang="zh-CN" dirty="0"/>
          </a:p>
          <a:p>
            <a:pPr marL="914400" lvl="2" indent="0" algn="ctr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标识符&gt;{&lt;若干说明或定义&gt;}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dirty="0"/>
              <a:t>使用方式</a:t>
            </a:r>
            <a:endParaRPr lang="en-US" altLang="zh-CN" dirty="0"/>
          </a:p>
          <a:p>
            <a:pPr marL="914400" lvl="2" indent="0" algn="ctr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名字&gt;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</a:t>
            </a:r>
            <a:r>
              <a:rPr lang="zh-CN" altLang="en-US" dirty="0"/>
              <a:t>关键字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告诉编译器应该“推断”类型</a:t>
            </a:r>
            <a:endParaRPr lang="en-US" altLang="zh-CN" dirty="0"/>
          </a:p>
          <a:p>
            <a:pPr lvl="1"/>
            <a:r>
              <a:rPr lang="zh-CN" altLang="en-US" dirty="0"/>
              <a:t>例如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m {10};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被推断为整型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n = 200UL;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被推断为无符号长整型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(3.1416); 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被推断为双精度浮点型</a:t>
            </a:r>
            <a:endParaRPr lang="zh-CN" alt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</a:t>
            </a:r>
            <a:r>
              <a:rPr lang="zh-CN" altLang="en-US" dirty="0"/>
              <a:t>关键字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为数据类型设置别名</a:t>
            </a:r>
            <a:endParaRPr lang="en-US" altLang="zh-CN" dirty="0"/>
          </a:p>
          <a:p>
            <a:pPr lvl="1"/>
            <a:r>
              <a:rPr lang="zh-CN" altLang="en-US" dirty="0"/>
              <a:t>例如：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BigOnes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BigOnes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可以用来代替无符号长长整型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BigOnes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100;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typedef</a:t>
            </a:r>
            <a:r>
              <a:rPr lang="zh-CN" altLang="en-US" dirty="0"/>
              <a:t>关键字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类型说明</a:t>
            </a:r>
            <a:endParaRPr lang="en-US" altLang="zh-CN" dirty="0"/>
          </a:p>
          <a:p>
            <a:pPr lvl="1"/>
            <a:r>
              <a:rPr lang="zh-CN" altLang="en-US" dirty="0"/>
              <a:t>用户为一个已定义的类型赋予一个新的数据类型名</a:t>
            </a:r>
            <a:endParaRPr lang="en-US" altLang="zh-CN" dirty="0"/>
          </a:p>
          <a:p>
            <a:pPr lvl="1"/>
            <a:r>
              <a:rPr lang="zh-CN" altLang="en-US" dirty="0"/>
              <a:t>用来提高程序的可读性</a:t>
            </a:r>
            <a:endParaRPr lang="en-US" altLang="zh-CN" dirty="0"/>
          </a:p>
          <a:p>
            <a:pPr marL="457200" lvl="1" indent="0" algn="ctr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id_number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可以用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id_number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表示整型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id_number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student_id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1901234;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hlinkClick r:id="rId1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  <a:endParaRPr lang="zh-CN" alt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1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85725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标题 7"/>
          <p:cNvSpPr>
            <a:spLocks noGrp="1"/>
          </p:cNvSpPr>
          <p:nvPr>
            <p:ph type="ctrTitle"/>
          </p:nvPr>
        </p:nvSpPr>
        <p:spPr>
          <a:xfrm>
            <a:off x="714375" y="2000250"/>
            <a:ext cx="7715250" cy="1928813"/>
          </a:xfrm>
        </p:spPr>
        <p:txBody>
          <a:bodyPr/>
          <a:lstStyle/>
          <a:p>
            <a:r>
              <a:rPr lang="zh-CN" altLang="en-US" dirty="0"/>
              <a:t>第二章 结束</a:t>
            </a:r>
            <a:endParaRPr lang="zh-CN" altLang="en-US" dirty="0"/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5796136" y="895350"/>
            <a:ext cx="319991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高级语言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ea typeface="华文琥珀" panose="02010800040101010101" pitchFamily="2" charset="-122"/>
                <a:cs typeface="Courier New" panose="02070309020205020404" pitchFamily="49" charset="0"/>
              </a:rPr>
              <a:t>C++</a:t>
            </a:r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程序设计</a:t>
            </a:r>
            <a:endParaRPr lang="zh-CN" altLang="en-US" sz="2400" dirty="0">
              <a:solidFill>
                <a:schemeClr val="bg1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95" y="5470071"/>
            <a:ext cx="1021334" cy="10356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847" y="5604206"/>
            <a:ext cx="1147610" cy="848776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IMING" val="|4|3.1|1.7"/>
</p:tagLst>
</file>

<file path=ppt/tags/tag2.xml><?xml version="1.0" encoding="utf-8"?>
<p:tagLst xmlns:p="http://schemas.openxmlformats.org/presentationml/2006/main">
  <p:tag name="commondata" val="eyJoZGlkIjoiNDdiN2JhM2IzNWI3YjE3NjllMGM2YTg1OWE1MWJhNTEifQ==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880068"/>
      </a:dk2>
      <a:lt2>
        <a:srgbClr val="F4E7ED"/>
      </a:lt2>
      <a:accent1>
        <a:srgbClr val="8800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880068"/>
      </a:hlink>
      <a:folHlink>
        <a:srgbClr val="B83D68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9395</Words>
  <Application>WPS 演示</Application>
  <PresentationFormat>全屏显示(4:3)</PresentationFormat>
  <Paragraphs>1489</Paragraphs>
  <Slides>56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1" baseType="lpstr">
      <vt:lpstr>Arial</vt:lpstr>
      <vt:lpstr>宋体</vt:lpstr>
      <vt:lpstr>Wingdings</vt:lpstr>
      <vt:lpstr>方正姚体</vt:lpstr>
      <vt:lpstr>黑体</vt:lpstr>
      <vt:lpstr>Calibri</vt:lpstr>
      <vt:lpstr>华文琥珀</vt:lpstr>
      <vt:lpstr>Courier New</vt:lpstr>
      <vt:lpstr>Arial</vt:lpstr>
      <vt:lpstr>微软雅黑</vt:lpstr>
      <vt:lpstr>Arial Unicode MS</vt:lpstr>
      <vt:lpstr>楷体_GB2312</vt:lpstr>
      <vt:lpstr>新宋体</vt:lpstr>
      <vt:lpstr>华文行楷</vt:lpstr>
      <vt:lpstr>Office 主题</vt:lpstr>
      <vt:lpstr>PowerPoint 演示文稿</vt:lpstr>
      <vt:lpstr>第二章 数据类型</vt:lpstr>
      <vt:lpstr>PowerPoint 演示文稿</vt:lpstr>
      <vt:lpstr>PowerPoint 演示文稿</vt:lpstr>
      <vt:lpstr>数据</vt:lpstr>
      <vt:lpstr>数据类型</vt:lpstr>
      <vt:lpstr>数据类型</vt:lpstr>
      <vt:lpstr>常量</vt:lpstr>
      <vt:lpstr>变量</vt:lpstr>
      <vt:lpstr>变量</vt:lpstr>
      <vt:lpstr>常变量与变量的存储</vt:lpstr>
      <vt:lpstr>PowerPoint 演示文稿</vt:lpstr>
      <vt:lpstr>基本数据类型</vt:lpstr>
      <vt:lpstr>整型</vt:lpstr>
      <vt:lpstr>整型的修饰符</vt:lpstr>
      <vt:lpstr>浮点型</vt:lpstr>
      <vt:lpstr>浮点型</vt:lpstr>
      <vt:lpstr>浮点型</vt:lpstr>
      <vt:lpstr>字符型</vt:lpstr>
      <vt:lpstr>ASCII字符型与整型的关系</vt:lpstr>
      <vt:lpstr>Unicode字符型</vt:lpstr>
      <vt:lpstr>布尔型</vt:lpstr>
      <vt:lpstr>布尔型</vt:lpstr>
      <vt:lpstr>无值型</vt:lpstr>
      <vt:lpstr>PowerPoint 演示文稿</vt:lpstr>
      <vt:lpstr>复合类型</vt:lpstr>
      <vt:lpstr>枚举类型</vt:lpstr>
      <vt:lpstr>枚举类型</vt:lpstr>
      <vt:lpstr>枚举类型</vt:lpstr>
      <vt:lpstr>枚举类型</vt:lpstr>
      <vt:lpstr>枚举类型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数据类型的转换</vt:lpstr>
      <vt:lpstr>数据类型的转换</vt:lpstr>
      <vt:lpstr>PowerPoint 演示文稿</vt:lpstr>
      <vt:lpstr>CV限定符（CV-qualifiers）</vt:lpstr>
      <vt:lpstr>PowerPoint 演示文稿</vt:lpstr>
      <vt:lpstr>C++语句概览</vt:lpstr>
      <vt:lpstr>常量的说明</vt:lpstr>
      <vt:lpstr>变量的说明</vt:lpstr>
      <vt:lpstr>有关变量的概念</vt:lpstr>
      <vt:lpstr>初始化（Initialization）</vt:lpstr>
      <vt:lpstr>定义（definition）</vt:lpstr>
      <vt:lpstr>命名空间的说明</vt:lpstr>
      <vt:lpstr>auto关键字</vt:lpstr>
      <vt:lpstr>using 关键字</vt:lpstr>
      <vt:lpstr>typedef关键字</vt:lpstr>
      <vt:lpstr>第二章 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京局的5033</cp:lastModifiedBy>
  <cp:revision>5</cp:revision>
  <dcterms:created xsi:type="dcterms:W3CDTF">2009-05-27T07:01:00Z</dcterms:created>
  <dcterms:modified xsi:type="dcterms:W3CDTF">2023-12-18T14:36:05Z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61C5DC40E338464F8BF73346D85550EA_12</vt:lpwstr>
  </property>
</Properties>
</file>